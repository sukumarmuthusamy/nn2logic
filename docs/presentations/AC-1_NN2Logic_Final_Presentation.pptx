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63" r:id="rId5"/>
    <p:sldId id="268" r:id="rId6"/>
    <p:sldId id="258" r:id="rId7"/>
    <p:sldId id="259" r:id="rId8"/>
    <p:sldId id="260" r:id="rId9"/>
    <p:sldId id="267" r:id="rId10"/>
    <p:sldId id="271" r:id="rId11"/>
    <p:sldId id="262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2B4A2-6FF6-3FE7-478D-3D6A76642328}" v="191" dt="2026-05-03T17:17:49.685"/>
    <p1510:client id="{965C7346-6273-9B59-D332-F2E3B2A03512}" v="33" dt="2026-05-03T17:30:27.910"/>
    <p1510:client id="{AE67B825-447B-8528-7743-F7987465F6F2}" v="1" dt="2026-05-03T17:28:29.7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gya Mishra" userId="S::pmishra1@students.kennesaw.edu::b2db8186-0020-4fa7-88b4-d7b6d2f83d2b" providerId="AD" clId="Web-{965C7346-6273-9B59-D332-F2E3B2A03512}"/>
    <pc:docChg chg="modSld">
      <pc:chgData name="Pragya Mishra" userId="S::pmishra1@students.kennesaw.edu::b2db8186-0020-4fa7-88b4-d7b6d2f83d2b" providerId="AD" clId="Web-{965C7346-6273-9B59-D332-F2E3B2A03512}" dt="2026-05-03T17:30:27.910" v="28" actId="20577"/>
      <pc:docMkLst>
        <pc:docMk/>
      </pc:docMkLst>
      <pc:sldChg chg="modSp">
        <pc:chgData name="Pragya Mishra" userId="S::pmishra1@students.kennesaw.edu::b2db8186-0020-4fa7-88b4-d7b6d2f83d2b" providerId="AD" clId="Web-{965C7346-6273-9B59-D332-F2E3B2A03512}" dt="2026-05-03T17:28:50.329" v="7" actId="20577"/>
        <pc:sldMkLst>
          <pc:docMk/>
          <pc:sldMk cId="0" sldId="257"/>
        </pc:sldMkLst>
        <pc:spChg chg="mod">
          <ac:chgData name="Pragya Mishra" userId="S::pmishra1@students.kennesaw.edu::b2db8186-0020-4fa7-88b4-d7b6d2f83d2b" providerId="AD" clId="Web-{965C7346-6273-9B59-D332-F2E3B2A03512}" dt="2026-05-03T17:28:50.329" v="7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Pragya Mishra" userId="S::pmishra1@students.kennesaw.edu::b2db8186-0020-4fa7-88b4-d7b6d2f83d2b" providerId="AD" clId="Web-{965C7346-6273-9B59-D332-F2E3B2A03512}" dt="2026-05-03T17:27:56.734" v="5" actId="20577"/>
        <pc:sldMkLst>
          <pc:docMk/>
          <pc:sldMk cId="0" sldId="258"/>
        </pc:sldMkLst>
        <pc:spChg chg="mod">
          <ac:chgData name="Pragya Mishra" userId="S::pmishra1@students.kennesaw.edu::b2db8186-0020-4fa7-88b4-d7b6d2f83d2b" providerId="AD" clId="Web-{965C7346-6273-9B59-D332-F2E3B2A03512}" dt="2026-05-03T17:27:53.031" v="4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Pragya Mishra" userId="S::pmishra1@students.kennesaw.edu::b2db8186-0020-4fa7-88b4-d7b6d2f83d2b" providerId="AD" clId="Web-{965C7346-6273-9B59-D332-F2E3B2A03512}" dt="2026-05-03T17:27:56.734" v="5" actId="20577"/>
          <ac:spMkLst>
            <pc:docMk/>
            <pc:sldMk cId="0" sldId="258"/>
            <ac:spMk id="27" creationId="{00000000-0000-0000-0000-000000000000}"/>
          </ac:spMkLst>
        </pc:spChg>
      </pc:sldChg>
      <pc:sldChg chg="modSp">
        <pc:chgData name="Pragya Mishra" userId="S::pmishra1@students.kennesaw.edu::b2db8186-0020-4fa7-88b4-d7b6d2f83d2b" providerId="AD" clId="Web-{965C7346-6273-9B59-D332-F2E3B2A03512}" dt="2026-05-03T17:29:58.785" v="21" actId="20577"/>
        <pc:sldMkLst>
          <pc:docMk/>
          <pc:sldMk cId="0" sldId="260"/>
        </pc:sldMkLst>
        <pc:spChg chg="mod">
          <ac:chgData name="Pragya Mishra" userId="S::pmishra1@students.kennesaw.edu::b2db8186-0020-4fa7-88b4-d7b6d2f83d2b" providerId="AD" clId="Web-{965C7346-6273-9B59-D332-F2E3B2A03512}" dt="2026-05-03T17:29:58.785" v="2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Pragya Mishra" userId="S::pmishra1@students.kennesaw.edu::b2db8186-0020-4fa7-88b4-d7b6d2f83d2b" providerId="AD" clId="Web-{965C7346-6273-9B59-D332-F2E3B2A03512}" dt="2026-05-03T17:29:36.440" v="14" actId="20577"/>
        <pc:sldMkLst>
          <pc:docMk/>
          <pc:sldMk cId="2928824255" sldId="263"/>
        </pc:sldMkLst>
        <pc:spChg chg="mod">
          <ac:chgData name="Pragya Mishra" userId="S::pmishra1@students.kennesaw.edu::b2db8186-0020-4fa7-88b4-d7b6d2f83d2b" providerId="AD" clId="Web-{965C7346-6273-9B59-D332-F2E3B2A03512}" dt="2026-05-03T17:29:21.799" v="11" actId="20577"/>
          <ac:spMkLst>
            <pc:docMk/>
            <pc:sldMk cId="2928824255" sldId="263"/>
            <ac:spMk id="12" creationId="{955274A3-E346-6F35-7B78-2ABB990C09E6}"/>
          </ac:spMkLst>
        </pc:spChg>
        <pc:spChg chg="mod">
          <ac:chgData name="Pragya Mishra" userId="S::pmishra1@students.kennesaw.edu::b2db8186-0020-4fa7-88b4-d7b6d2f83d2b" providerId="AD" clId="Web-{965C7346-6273-9B59-D332-F2E3B2A03512}" dt="2026-05-03T17:29:36.440" v="14" actId="20577"/>
          <ac:spMkLst>
            <pc:docMk/>
            <pc:sldMk cId="2928824255" sldId="263"/>
            <ac:spMk id="13" creationId="{F6977A88-E6D0-A68B-DE44-DAD129D058FA}"/>
          </ac:spMkLst>
        </pc:spChg>
      </pc:sldChg>
      <pc:sldChg chg="modSp">
        <pc:chgData name="Pragya Mishra" userId="S::pmishra1@students.kennesaw.edu::b2db8186-0020-4fa7-88b4-d7b6d2f83d2b" providerId="AD" clId="Web-{965C7346-6273-9B59-D332-F2E3B2A03512}" dt="2026-05-03T17:30:16.176" v="27" actId="14100"/>
        <pc:sldMkLst>
          <pc:docMk/>
          <pc:sldMk cId="0" sldId="267"/>
        </pc:sldMkLst>
        <pc:spChg chg="mod">
          <ac:chgData name="Pragya Mishra" userId="S::pmishra1@students.kennesaw.edu::b2db8186-0020-4fa7-88b4-d7b6d2f83d2b" providerId="AD" clId="Web-{965C7346-6273-9B59-D332-F2E3B2A03512}" dt="2026-05-03T17:30:16.176" v="27" actId="14100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Pragya Mishra" userId="S::pmishra1@students.kennesaw.edu::b2db8186-0020-4fa7-88b4-d7b6d2f83d2b" providerId="AD" clId="Web-{965C7346-6273-9B59-D332-F2E3B2A03512}" dt="2026-05-03T17:30:27.910" v="28" actId="20577"/>
        <pc:sldMkLst>
          <pc:docMk/>
          <pc:sldMk cId="290947498" sldId="271"/>
        </pc:sldMkLst>
        <pc:spChg chg="mod">
          <ac:chgData name="Pragya Mishra" userId="S::pmishra1@students.kennesaw.edu::b2db8186-0020-4fa7-88b4-d7b6d2f83d2b" providerId="AD" clId="Web-{965C7346-6273-9B59-D332-F2E3B2A03512}" dt="2026-05-03T17:30:27.910" v="28" actId="20577"/>
          <ac:spMkLst>
            <pc:docMk/>
            <pc:sldMk cId="290947498" sldId="271"/>
            <ac:spMk id="2" creationId="{57ED7C2E-C935-CD0D-B804-A0B479527C31}"/>
          </ac:spMkLst>
        </pc:spChg>
      </pc:sldChg>
    </pc:docChg>
  </pc:docChgLst>
  <pc:docChgLst>
    <pc:chgData name="Deepthi Kondreddy" userId="S::dkondred@students.kennesaw.edu::3fb7fa6d-c96a-4394-9ba8-170100c18ca8" providerId="AD" clId="Web-{3692B4A2-6FF6-3FE7-478D-3D6A76642328}"/>
    <pc:docChg chg="addSld delSld modSld">
      <pc:chgData name="Deepthi Kondreddy" userId="S::dkondred@students.kennesaw.edu::3fb7fa6d-c96a-4394-9ba8-170100c18ca8" providerId="AD" clId="Web-{3692B4A2-6FF6-3FE7-478D-3D6A76642328}" dt="2026-05-03T17:17:49.685" v="128" actId="20577"/>
      <pc:docMkLst>
        <pc:docMk/>
      </pc:docMkLst>
      <pc:sldChg chg="addSp delSp modSp add replId">
        <pc:chgData name="Deepthi Kondreddy" userId="S::dkondred@students.kennesaw.edu::3fb7fa6d-c96a-4394-9ba8-170100c18ca8" providerId="AD" clId="Web-{3692B4A2-6FF6-3FE7-478D-3D6A76642328}" dt="2026-05-03T17:17:49.685" v="128" actId="20577"/>
        <pc:sldMkLst>
          <pc:docMk/>
          <pc:sldMk cId="290947498" sldId="271"/>
        </pc:sldMkLst>
        <pc:spChg chg="mod">
          <ac:chgData name="Deepthi Kondreddy" userId="S::dkondred@students.kennesaw.edu::3fb7fa6d-c96a-4394-9ba8-170100c18ca8" providerId="AD" clId="Web-{3692B4A2-6FF6-3FE7-478D-3D6A76642328}" dt="2026-05-03T17:17:49.685" v="128" actId="20577"/>
          <ac:spMkLst>
            <pc:docMk/>
            <pc:sldMk cId="290947498" sldId="271"/>
            <ac:spMk id="2" creationId="{57ED7C2E-C935-CD0D-B804-A0B479527C31}"/>
          </ac:spMkLst>
        </pc:spChg>
        <pc:spChg chg="mod">
          <ac:chgData name="Deepthi Kondreddy" userId="S::dkondred@students.kennesaw.edu::3fb7fa6d-c96a-4394-9ba8-170100c18ca8" providerId="AD" clId="Web-{3692B4A2-6FF6-3FE7-478D-3D6A76642328}" dt="2026-05-03T16:55:21.476" v="11" actId="14100"/>
          <ac:spMkLst>
            <pc:docMk/>
            <pc:sldMk cId="290947498" sldId="271"/>
            <ac:spMk id="3" creationId="{2A1AED11-BC76-8CEC-40FC-E143C811953A}"/>
          </ac:spMkLst>
        </pc:spChg>
        <pc:spChg chg="mod">
          <ac:chgData name="Deepthi Kondreddy" userId="S::dkondred@students.kennesaw.edu::3fb7fa6d-c96a-4394-9ba8-170100c18ca8" providerId="AD" clId="Web-{3692B4A2-6FF6-3FE7-478D-3D6A76642328}" dt="2026-05-03T16:55:25.273" v="12" actId="20577"/>
          <ac:spMkLst>
            <pc:docMk/>
            <pc:sldMk cId="290947498" sldId="271"/>
            <ac:spMk id="4" creationId="{7A1FAC9A-F276-85C4-CCFD-A9D55ECE1425}"/>
          </ac:spMkLst>
        </pc:spChg>
        <pc:spChg chg="add del">
          <ac:chgData name="Deepthi Kondreddy" userId="S::dkondred@students.kennesaw.edu::3fb7fa6d-c96a-4394-9ba8-170100c18ca8" providerId="AD" clId="Web-{3692B4A2-6FF6-3FE7-478D-3D6A76642328}" dt="2026-05-03T17:05:44.257" v="44"/>
          <ac:spMkLst>
            <pc:docMk/>
            <pc:sldMk cId="290947498" sldId="271"/>
            <ac:spMk id="8" creationId="{4F467B9B-F46F-6846-0658-DD522A21FA78}"/>
          </ac:spMkLst>
        </pc:spChg>
        <pc:spChg chg="add del">
          <ac:chgData name="Deepthi Kondreddy" userId="S::dkondred@students.kennesaw.edu::3fb7fa6d-c96a-4394-9ba8-170100c18ca8" providerId="AD" clId="Web-{3692B4A2-6FF6-3FE7-478D-3D6A76642328}" dt="2026-05-03T17:04:36.986" v="38"/>
          <ac:spMkLst>
            <pc:docMk/>
            <pc:sldMk cId="290947498" sldId="271"/>
            <ac:spMk id="9" creationId="{4F467B9B-F46F-6846-0658-DD522A21FA78}"/>
          </ac:spMkLst>
        </pc:spChg>
        <pc:spChg chg="del">
          <ac:chgData name="Deepthi Kondreddy" userId="S::dkondred@students.kennesaw.edu::3fb7fa6d-c96a-4394-9ba8-170100c18ca8" providerId="AD" clId="Web-{3692B4A2-6FF6-3FE7-478D-3D6A76642328}" dt="2026-05-03T16:51:00.967" v="3"/>
          <ac:spMkLst>
            <pc:docMk/>
            <pc:sldMk cId="290947498" sldId="271"/>
            <ac:spMk id="10" creationId="{95A92FD7-9FA9-08A2-F79F-5F72C16C66E9}"/>
          </ac:spMkLst>
        </pc:spChg>
        <pc:spChg chg="del mod">
          <ac:chgData name="Deepthi Kondreddy" userId="S::dkondred@students.kennesaw.edu::3fb7fa6d-c96a-4394-9ba8-170100c18ca8" providerId="AD" clId="Web-{3692B4A2-6FF6-3FE7-478D-3D6A76642328}" dt="2026-05-03T16:51:07.843" v="6"/>
          <ac:spMkLst>
            <pc:docMk/>
            <pc:sldMk cId="290947498" sldId="271"/>
            <ac:spMk id="11" creationId="{2F73B433-A106-C6A8-86E0-2BFECA2D52C1}"/>
          </ac:spMkLst>
        </pc:spChg>
        <pc:spChg chg="del">
          <ac:chgData name="Deepthi Kondreddy" userId="S::dkondred@students.kennesaw.edu::3fb7fa6d-c96a-4394-9ba8-170100c18ca8" providerId="AD" clId="Web-{3692B4A2-6FF6-3FE7-478D-3D6A76642328}" dt="2026-05-03T16:51:09.812" v="7"/>
          <ac:spMkLst>
            <pc:docMk/>
            <pc:sldMk cId="290947498" sldId="271"/>
            <ac:spMk id="12" creationId="{C6D238C1-E790-399F-4017-F4EB8244E873}"/>
          </ac:spMkLst>
        </pc:spChg>
        <pc:spChg chg="del mod">
          <ac:chgData name="Deepthi Kondreddy" userId="S::dkondred@students.kennesaw.edu::3fb7fa6d-c96a-4394-9ba8-170100c18ca8" providerId="AD" clId="Web-{3692B4A2-6FF6-3FE7-478D-3D6A76642328}" dt="2026-05-03T16:51:13.812" v="9"/>
          <ac:spMkLst>
            <pc:docMk/>
            <pc:sldMk cId="290947498" sldId="271"/>
            <ac:spMk id="13" creationId="{A8B9C7F7-3695-3409-B642-6E232BBFB514}"/>
          </ac:spMkLst>
        </pc:spChg>
        <pc:spChg chg="add del">
          <ac:chgData name="Deepthi Kondreddy" userId="S::dkondred@students.kennesaw.edu::3fb7fa6d-c96a-4394-9ba8-170100c18ca8" providerId="AD" clId="Web-{3692B4A2-6FF6-3FE7-478D-3D6A76642328}" dt="2026-05-03T17:04:35.815" v="36"/>
          <ac:spMkLst>
            <pc:docMk/>
            <pc:sldMk cId="290947498" sldId="271"/>
            <ac:spMk id="14" creationId="{D71C02A6-998A-67F6-2EC7-DFA5EE63CE28}"/>
          </ac:spMkLst>
        </pc:spChg>
        <pc:spChg chg="add del">
          <ac:chgData name="Deepthi Kondreddy" userId="S::dkondred@students.kennesaw.edu::3fb7fa6d-c96a-4394-9ba8-170100c18ca8" providerId="AD" clId="Web-{3692B4A2-6FF6-3FE7-478D-3D6A76642328}" dt="2026-05-03T17:04:33.439" v="35"/>
          <ac:spMkLst>
            <pc:docMk/>
            <pc:sldMk cId="290947498" sldId="271"/>
            <ac:spMk id="15" creationId="{67630354-0BBA-51DC-B4EC-B5544A0B4784}"/>
          </ac:spMkLst>
        </pc:spChg>
        <pc:spChg chg="add del">
          <ac:chgData name="Deepthi Kondreddy" userId="S::dkondred@students.kennesaw.edu::3fb7fa6d-c96a-4394-9ba8-170100c18ca8" providerId="AD" clId="Web-{3692B4A2-6FF6-3FE7-478D-3D6A76642328}" dt="2026-05-03T17:05:41.445" v="42"/>
          <ac:spMkLst>
            <pc:docMk/>
            <pc:sldMk cId="290947498" sldId="271"/>
            <ac:spMk id="16" creationId="{4C4F855A-7600-E8F7-F7F6-9CF0E46229EC}"/>
          </ac:spMkLst>
        </pc:spChg>
        <pc:spChg chg="add mod">
          <ac:chgData name="Deepthi Kondreddy" userId="S::dkondred@students.kennesaw.edu::3fb7fa6d-c96a-4394-9ba8-170100c18ca8" providerId="AD" clId="Web-{3692B4A2-6FF6-3FE7-478D-3D6A76642328}" dt="2026-05-03T17:16:33.918" v="94" actId="20577"/>
          <ac:spMkLst>
            <pc:docMk/>
            <pc:sldMk cId="290947498" sldId="271"/>
            <ac:spMk id="17" creationId="{A812174B-41E7-5ACE-7C51-E2B0B76244F5}"/>
          </ac:spMkLst>
        </pc:spChg>
        <pc:spChg chg="add mod">
          <ac:chgData name="Deepthi Kondreddy" userId="S::dkondred@students.kennesaw.edu::3fb7fa6d-c96a-4394-9ba8-170100c18ca8" providerId="AD" clId="Web-{3692B4A2-6FF6-3FE7-478D-3D6A76642328}" dt="2026-05-03T17:17:25.810" v="118"/>
          <ac:spMkLst>
            <pc:docMk/>
            <pc:sldMk cId="290947498" sldId="271"/>
            <ac:spMk id="18" creationId="{D442D137-5877-64AE-9C49-00C8259F6E75}"/>
          </ac:spMkLst>
        </pc:spChg>
        <pc:picChg chg="add del mod">
          <ac:chgData name="Deepthi Kondreddy" userId="S::dkondred@students.kennesaw.edu::3fb7fa6d-c96a-4394-9ba8-170100c18ca8" providerId="AD" clId="Web-{3692B4A2-6FF6-3FE7-478D-3D6A76642328}" dt="2026-05-03T16:58:22.120" v="16"/>
          <ac:picMkLst>
            <pc:docMk/>
            <pc:sldMk cId="290947498" sldId="271"/>
            <ac:picMk id="5" creationId="{152603DF-EED6-F56C-DCB2-7DA77334592B}"/>
          </ac:picMkLst>
        </pc:picChg>
        <pc:picChg chg="add mod">
          <ac:chgData name="Deepthi Kondreddy" userId="S::dkondred@students.kennesaw.edu::3fb7fa6d-c96a-4394-9ba8-170100c18ca8" providerId="AD" clId="Web-{3692B4A2-6FF6-3FE7-478D-3D6A76642328}" dt="2026-05-03T17:05:48.289" v="45" actId="1076"/>
          <ac:picMkLst>
            <pc:docMk/>
            <pc:sldMk cId="290947498" sldId="271"/>
            <ac:picMk id="6" creationId="{3E0D39ED-EB34-28FB-0BFC-E84593A8E0E9}"/>
          </ac:picMkLst>
        </pc:picChg>
        <pc:picChg chg="add mod">
          <ac:chgData name="Deepthi Kondreddy" userId="S::dkondred@students.kennesaw.edu::3fb7fa6d-c96a-4394-9ba8-170100c18ca8" providerId="AD" clId="Web-{3692B4A2-6FF6-3FE7-478D-3D6A76642328}" dt="2026-05-03T17:05:53.039" v="48" actId="1076"/>
          <ac:picMkLst>
            <pc:docMk/>
            <pc:sldMk cId="290947498" sldId="271"/>
            <ac:picMk id="7" creationId="{F671DDFE-79F7-D841-0850-80F29C7B2729}"/>
          </ac:picMkLst>
        </pc:picChg>
      </pc:sldChg>
      <pc:sldChg chg="new del">
        <pc:chgData name="Deepthi Kondreddy" userId="S::dkondred@students.kennesaw.edu::3fb7fa6d-c96a-4394-9ba8-170100c18ca8" providerId="AD" clId="Web-{3692B4A2-6FF6-3FE7-478D-3D6A76642328}" dt="2026-05-03T16:50:53.530" v="1"/>
        <pc:sldMkLst>
          <pc:docMk/>
          <pc:sldMk cId="531968924" sldId="271"/>
        </pc:sldMkLst>
      </pc:sldChg>
      <pc:sldChg chg="add del replId">
        <pc:chgData name="Deepthi Kondreddy" userId="S::dkondred@students.kennesaw.edu::3fb7fa6d-c96a-4394-9ba8-170100c18ca8" providerId="AD" clId="Web-{3692B4A2-6FF6-3FE7-478D-3D6A76642328}" dt="2026-05-03T16:57:30.275" v="14"/>
        <pc:sldMkLst>
          <pc:docMk/>
          <pc:sldMk cId="867920438" sldId="272"/>
        </pc:sldMkLst>
      </pc:sldChg>
    </pc:docChg>
  </pc:docChgLst>
  <pc:docChgLst>
    <pc:chgData name="Deepthi Kondreddy" userId="S::dkondred@students.kennesaw.edu::3fb7fa6d-c96a-4394-9ba8-170100c18ca8" providerId="AD" clId="Web-{AE67B825-447B-8528-7743-F7987465F6F2}"/>
    <pc:docChg chg="modSld">
      <pc:chgData name="Deepthi Kondreddy" userId="S::dkondred@students.kennesaw.edu::3fb7fa6d-c96a-4394-9ba8-170100c18ca8" providerId="AD" clId="Web-{AE67B825-447B-8528-7743-F7987465F6F2}" dt="2026-05-03T17:28:29.705" v="0" actId="20577"/>
      <pc:docMkLst>
        <pc:docMk/>
      </pc:docMkLst>
      <pc:sldChg chg="modSp">
        <pc:chgData name="Deepthi Kondreddy" userId="S::dkondred@students.kennesaw.edu::3fb7fa6d-c96a-4394-9ba8-170100c18ca8" providerId="AD" clId="Web-{AE67B825-447B-8528-7743-F7987465F6F2}" dt="2026-05-03T17:28:29.705" v="0" actId="20577"/>
        <pc:sldMkLst>
          <pc:docMk/>
          <pc:sldMk cId="0" sldId="262"/>
        </pc:sldMkLst>
        <pc:spChg chg="mod">
          <ac:chgData name="Deepthi Kondreddy" userId="S::dkondred@students.kennesaw.edu::3fb7fa6d-c96a-4394-9ba8-170100c18ca8" providerId="AD" clId="Web-{AE67B825-447B-8528-7743-F7987465F6F2}" dt="2026-05-03T17:28:29.705" v="0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79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47472"/>
            <a:ext cx="123444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AC-1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7772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nn2logic</a:t>
            </a:r>
            <a:endParaRPr lang="en-US" sz="540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to Exact Logical Representations</a:t>
            </a:r>
            <a:endParaRPr lang="en-US" sz="190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84048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– Section W01/01  |  Spring 2026  |  May 4, 2026</a:t>
            </a:r>
            <a:endParaRPr lang="en-US" sz="1300"/>
          </a:p>
          <a:p>
            <a:pPr marL="0" indent="0">
              <a:buNone/>
            </a:pPr>
            <a:b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5852160" y="2148840"/>
            <a:ext cx="2926080" cy="1797148"/>
          </a:xfrm>
          <a:prstGeom prst="rect">
            <a:avLst/>
          </a:prstGeom>
          <a:solidFill>
            <a:srgbClr val="253480"/>
          </a:solidFill>
          <a:ln w="12700">
            <a:solidFill>
              <a:srgbClr val="3D5A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22128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943600" y="2596896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Pragya Mishra</a:t>
            </a:r>
            <a:endParaRPr lang="en-US" sz="130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Sukumar Muthusamy</a:t>
            </a:r>
            <a:endParaRPr lang="en-US" sz="130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 Kondreddy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Arthur Choi</a:t>
            </a:r>
            <a:endParaRPr lang="en-US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152400"/>
            <a:ext cx="7620000" cy="6096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800" b="1">
                <a:solidFill>
                  <a:srgbClr val="FFFFFF"/>
                </a:solidFill>
                <a:latin typeface="Calibri"/>
              </a:rPr>
              <a:t>Abbreviations &amp; Glossary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85800"/>
            <a:ext cx="8229600" cy="2794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300" b="0" i="1">
                <a:solidFill>
                  <a:srgbClr val="CADCFC"/>
                </a:solidFill>
                <a:latin typeface="Calibri"/>
              </a:rPr>
              <a:t>Key terms used throughout this presentation</a:t>
            </a:r>
          </a:p>
        </p:txBody>
      </p:sp>
      <p:sp>
        <p:nvSpPr>
          <p:cNvPr id="5" name="LH"/>
          <p:cNvSpPr/>
          <p:nvPr/>
        </p:nvSpPr>
        <p:spPr>
          <a:xfrm>
            <a:off x="0" y="939800"/>
            <a:ext cx="9144000" cy="355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91440" rIns="91440" anchor="ctr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</a:rPr>
              <a:t>Abbreviations</a:t>
            </a:r>
            <a:endParaRPr lang="en-US" sz="1400" b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6" name="LC"/>
          <p:cNvSpPr/>
          <p:nvPr/>
        </p:nvSpPr>
        <p:spPr>
          <a:xfrm>
            <a:off x="0" y="1295400"/>
            <a:ext cx="9144000" cy="339691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lIns="91440" tIns="91440" rIns="91440" bIns="91440"/>
          <a:lstStyle/>
          <a:p>
            <a:pPr>
              <a:lnSpc>
                <a:spcPts val="3200"/>
              </a:lnSpc>
            </a:pPr>
            <a:r>
              <a:rPr lang="en-US" sz="1000" b="1">
                <a:solidFill>
                  <a:srgbClr val="1E2761"/>
                </a:solidFill>
                <a:latin typeface="Calibri"/>
              </a:rPr>
              <a:t>BNN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  Binary Neural Network (</a:t>
            </a:r>
            <a:r>
              <a:rPr lang="en-US" sz="1000">
                <a:solidFill>
                  <a:srgbClr val="555555"/>
                </a:solidFill>
              </a:rPr>
              <a:t>Neural network with binary (+1/−1) weights &amp; step activations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)</a:t>
            </a:r>
          </a:p>
          <a:p>
            <a:pPr>
              <a:lnSpc>
                <a:spcPts val="3200"/>
              </a:lnSpc>
            </a:pPr>
            <a:r>
              <a:rPr lang="en-US" sz="1000" b="1">
                <a:solidFill>
                  <a:srgbClr val="1E2761"/>
                </a:solidFill>
                <a:latin typeface="Calibri"/>
              </a:rPr>
              <a:t>AC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  Arithmetic Circuit(</a:t>
            </a:r>
            <a:r>
              <a:rPr lang="en-US" sz="1000">
                <a:solidFill>
                  <a:srgbClr val="555555"/>
                </a:solidFill>
              </a:rPr>
              <a:t>Circuit encoding exact arithmetic (add, multiply, step) per neuron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)</a:t>
            </a:r>
          </a:p>
          <a:p>
            <a:pPr>
              <a:lnSpc>
                <a:spcPts val="3200"/>
              </a:lnSpc>
            </a:pPr>
            <a:r>
              <a:rPr lang="en-US" sz="1000" b="1">
                <a:solidFill>
                  <a:srgbClr val="1E2761"/>
                </a:solidFill>
                <a:latin typeface="Calibri"/>
              </a:rPr>
              <a:t>NNF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  Negation Normal Form</a:t>
            </a:r>
            <a:r>
              <a:rPr lang="en-US" sz="1000">
                <a:solidFill>
                  <a:srgbClr val="555555"/>
                </a:solidFill>
              </a:rPr>
              <a:t>(Boolean formula using only AND, OR, and literal (NOT at leaves)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)</a:t>
            </a:r>
          </a:p>
          <a:p>
            <a:pPr>
              <a:lnSpc>
                <a:spcPts val="3200"/>
              </a:lnSpc>
            </a:pPr>
            <a:r>
              <a:rPr lang="en-US" sz="1000" b="1">
                <a:solidFill>
                  <a:srgbClr val="1E2761"/>
                </a:solidFill>
                <a:latin typeface="Calibri"/>
              </a:rPr>
              <a:t>OBDD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  Ordered Binary Decision Diagram</a:t>
            </a:r>
            <a:r>
              <a:rPr lang="en-US" sz="1000">
                <a:solidFill>
                  <a:srgbClr val="555555"/>
                </a:solidFill>
              </a:rPr>
              <a:t>(Canonical DAG representation; supports poly-time model counting)</a:t>
            </a:r>
            <a:endParaRPr lang="en-US" sz="1000" b="0">
              <a:solidFill>
                <a:srgbClr val="555555"/>
              </a:solidFill>
              <a:latin typeface="Calibri"/>
            </a:endParaRPr>
          </a:p>
          <a:p>
            <a:pPr>
              <a:lnSpc>
                <a:spcPts val="3200"/>
              </a:lnSpc>
            </a:pPr>
            <a:r>
              <a:rPr lang="en-US" sz="1000" b="1">
                <a:solidFill>
                  <a:srgbClr val="1E2761"/>
                </a:solidFill>
                <a:latin typeface="Calibri"/>
              </a:rPr>
              <a:t>SDD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  Sentential Decision Diagram</a:t>
            </a:r>
            <a:r>
              <a:rPr lang="en-US" sz="1000">
                <a:solidFill>
                  <a:srgbClr val="555555"/>
                </a:solidFill>
              </a:rPr>
              <a:t>(More expressive compiled logic; broader tractable operations than OBDD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)</a:t>
            </a:r>
          </a:p>
          <a:p>
            <a:pPr>
              <a:lnSpc>
                <a:spcPts val="3200"/>
              </a:lnSpc>
            </a:pPr>
            <a:r>
              <a:rPr lang="en-US" sz="1000" b="1">
                <a:solidFill>
                  <a:srgbClr val="1E2761"/>
                </a:solidFill>
                <a:latin typeface="Calibri"/>
              </a:rPr>
              <a:t>DNF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  Disjunctive Normal Form</a:t>
            </a:r>
            <a:r>
              <a:rPr lang="en-US" sz="1000">
                <a:solidFill>
                  <a:srgbClr val="555555"/>
                </a:solidFill>
              </a:rPr>
              <a:t>(OR of AND-clauses; output of OBDD pseudo-polynomial compilation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)</a:t>
            </a:r>
          </a:p>
          <a:p>
            <a:pPr>
              <a:lnSpc>
                <a:spcPts val="3200"/>
              </a:lnSpc>
            </a:pPr>
            <a:r>
              <a:rPr lang="en-US" sz="1000" b="1">
                <a:solidFill>
                  <a:srgbClr val="1E2761"/>
                </a:solidFill>
                <a:latin typeface="Calibri"/>
              </a:rPr>
              <a:t>PI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  Prime Implicant</a:t>
            </a:r>
            <a:r>
              <a:rPr lang="en-US" sz="1000">
                <a:solidFill>
                  <a:srgbClr val="555555"/>
                </a:solidFill>
              </a:rPr>
              <a:t>(Minimal satisfying clause; used for human-readable explanation of output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)</a:t>
            </a:r>
          </a:p>
          <a:p>
            <a:pPr>
              <a:lnSpc>
                <a:spcPts val="3200"/>
              </a:lnSpc>
            </a:pPr>
            <a:r>
              <a:rPr lang="en-US" sz="1000" b="1">
                <a:solidFill>
                  <a:srgbClr val="1E2761"/>
                </a:solidFill>
                <a:latin typeface="Calibri"/>
              </a:rPr>
              <a:t>mr(f)</a:t>
            </a:r>
            <a:r>
              <a:rPr lang="en-US" sz="1000" b="0">
                <a:solidFill>
                  <a:srgbClr val="555555"/>
                </a:solidFill>
                <a:latin typeface="Calibri"/>
              </a:rPr>
              <a:t>  Model-Based Robustness Metric</a:t>
            </a:r>
            <a:r>
              <a:rPr lang="en-US" sz="1000">
                <a:solidFill>
                  <a:srgbClr val="555555"/>
                </a:solidFill>
              </a:rPr>
              <a:t>(Min. Hamming distance to nearest negative; quantifies classification stability)</a:t>
            </a:r>
            <a:endParaRPr lang="en-US" sz="1000" b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9" name="Footer"/>
          <p:cNvSpPr/>
          <p:nvPr/>
        </p:nvSpPr>
        <p:spPr>
          <a:xfrm>
            <a:off x="0" y="4743500"/>
            <a:ext cx="9144000" cy="400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anchor="ctr"/>
          <a:lstStyle/>
          <a:p>
            <a:pPr algn="ctr"/>
            <a:r>
              <a:rPr lang="en-US" sz="1000" b="0">
                <a:solidFill>
                  <a:srgbClr val="CADCFC"/>
                </a:solidFill>
                <a:latin typeface="Calibri"/>
              </a:rPr>
              <a:t>AI 7993 | Section W01/01 | Spring 2026  |  nn2logic — AC-1  |  Final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365760" y="63093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going to tell you today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60704"/>
            <a:ext cx="8046720" cy="15727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 neural networks achieve high accuracy, but their decision-making is opaque — making it difficult to trust predictions in high-stakes settings. nn2logic converts Binary Neural Networks (BNNs) into Boolean circuits and applies knowledge compilation to produce exact logical representations (OBDDs &amp; SDDs) that enable precise, verifiable reasoning about model decisions and robustness.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54864" cy="1828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2871216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93776" y="3172968"/>
            <a:ext cx="249631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are black boxes. Small input changes cause unexpected outputs; it's unclear which features drive decisions.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200400" y="278892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2788920"/>
            <a:ext cx="54864" cy="18288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28416" y="2871216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3328416" y="3172968"/>
            <a:ext cx="249631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BNN → Boolean Circuit → Knowledge Compilation → OBDD / SDD. Exact reasoning — not approximate — about every decision.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6035040" y="278892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2788920"/>
            <a:ext cx="54864" cy="182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63056" y="2871216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Result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163056" y="3172968"/>
            <a:ext cx="249631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pipeline on XOR experiment: training ✓  weight extraction ✓  NNF/OBDD ✓  SDD ✓  robustness analysis ✓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| Section W01/01 | Spring 2026  |  nn2logic — AC-1  |  Final Presentation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CFFD0F-AAE4-9647-DFD3-C93524A5658F}"/>
              </a:ext>
            </a:extLst>
          </p:cNvPr>
          <p:cNvSpPr/>
          <p:nvPr/>
        </p:nvSpPr>
        <p:spPr>
          <a:xfrm>
            <a:off x="0" y="-1"/>
            <a:ext cx="9144000" cy="527551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Architecture:</a:t>
            </a:r>
            <a:b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work?</a:t>
            </a:r>
            <a:endParaRPr lang="en-US" sz="1000"/>
          </a:p>
          <a:p>
            <a:endParaRPr lang="en-US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D857D24F-3FB3-6E98-EDBC-36EFF4B5FAA4}"/>
              </a:ext>
            </a:extLst>
          </p:cNvPr>
          <p:cNvSpPr/>
          <p:nvPr/>
        </p:nvSpPr>
        <p:spPr>
          <a:xfrm>
            <a:off x="4977030" y="822288"/>
            <a:ext cx="2697480" cy="5717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050" b="1"/>
              <a:t>Binary Neural Network (BNN)</a:t>
            </a:r>
            <a:br>
              <a:rPr lang="en-US" sz="1050"/>
            </a:br>
            <a:r>
              <a:rPr lang="en-US" sz="900"/>
              <a:t>• 2 inputs, 4 hidden neurons, 1 output</a:t>
            </a:r>
            <a:br>
              <a:rPr lang="en-US" sz="900"/>
            </a:br>
            <a:r>
              <a:rPr lang="en-US" sz="900"/>
              <a:t>• Binary weights &amp; activations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9E48170-C8EE-9D4C-5E86-B8151E894555}"/>
              </a:ext>
            </a:extLst>
          </p:cNvPr>
          <p:cNvSpPr/>
          <p:nvPr/>
        </p:nvSpPr>
        <p:spPr>
          <a:xfrm>
            <a:off x="4981212" y="847334"/>
            <a:ext cx="54864" cy="571705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38BD74FA-42CC-FEB5-0C65-9E0B0A05E15B}"/>
              </a:ext>
            </a:extLst>
          </p:cNvPr>
          <p:cNvSpPr/>
          <p:nvPr/>
        </p:nvSpPr>
        <p:spPr>
          <a:xfrm>
            <a:off x="4977030" y="1728197"/>
            <a:ext cx="2701662" cy="5717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050" b="1"/>
              <a:t>Weight Extraction</a:t>
            </a:r>
            <a:br>
              <a:rPr lang="en-US" sz="1050"/>
            </a:br>
            <a:r>
              <a:rPr lang="en-US" sz="900"/>
              <a:t>• Layer-wise extraction</a:t>
            </a:r>
            <a:br>
              <a:rPr lang="en-US" sz="900"/>
            </a:br>
            <a:r>
              <a:rPr lang="en-US" sz="900"/>
              <a:t>• Verified vs TensorFlow forward pass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67E600AA-5A8C-FD93-A15E-5E5496F827B5}"/>
              </a:ext>
            </a:extLst>
          </p:cNvPr>
          <p:cNvSpPr/>
          <p:nvPr/>
        </p:nvSpPr>
        <p:spPr>
          <a:xfrm>
            <a:off x="4982484" y="1732929"/>
            <a:ext cx="54864" cy="565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955274A3-E346-6F35-7B78-2ABB990C09E6}"/>
              </a:ext>
            </a:extLst>
          </p:cNvPr>
          <p:cNvSpPr/>
          <p:nvPr/>
        </p:nvSpPr>
        <p:spPr>
          <a:xfrm>
            <a:off x="4981212" y="2571750"/>
            <a:ext cx="2697480" cy="57602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r>
              <a:rPr lang="en-US" sz="1050" b="1"/>
              <a:t>Boolean Circuit (AC)</a:t>
            </a:r>
            <a:br>
              <a:rPr lang="en-US" sz="1050"/>
            </a:br>
            <a:r>
              <a:rPr lang="en-US" sz="900"/>
              <a:t>• </a:t>
            </a:r>
            <a:r>
              <a:rPr lang="fr-FR" sz="900"/>
              <a:t>5 circuits </a:t>
            </a:r>
            <a:r>
              <a:rPr lang="fr-FR" sz="900" err="1"/>
              <a:t>constructed</a:t>
            </a:r>
            <a:br>
              <a:rPr lang="fr-FR" sz="900"/>
            </a:br>
            <a:r>
              <a:rPr lang="fr-FR" sz="900"/>
              <a:t>• 9–15 </a:t>
            </a:r>
            <a:r>
              <a:rPr lang="fr-FR" sz="900" err="1"/>
              <a:t>Nodes</a:t>
            </a:r>
            <a:r>
              <a:rPr lang="fr-FR" sz="900"/>
              <a:t> per </a:t>
            </a:r>
            <a:r>
              <a:rPr lang="fr-FR" sz="900" err="1"/>
              <a:t>neuron</a:t>
            </a:r>
            <a:endParaRPr lang="en-US" sz="900" err="1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6977A88-E6D0-A68B-DE44-DAD129D058FA}"/>
              </a:ext>
            </a:extLst>
          </p:cNvPr>
          <p:cNvSpPr/>
          <p:nvPr/>
        </p:nvSpPr>
        <p:spPr>
          <a:xfrm>
            <a:off x="4981212" y="3500548"/>
            <a:ext cx="2697480" cy="57602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r>
              <a:rPr lang="en-US" sz="1050" b="1"/>
              <a:t>OBDD / SDD Representation</a:t>
            </a:r>
            <a:br>
              <a:rPr lang="en-US" sz="1050"/>
            </a:br>
            <a:r>
              <a:rPr lang="en-US" sz="900"/>
              <a:t>• </a:t>
            </a:r>
            <a:r>
              <a:rPr lang="it-IT" sz="900"/>
              <a:t>Canonical logical representation</a:t>
            </a:r>
            <a:br>
              <a:rPr lang="it-IT" sz="900"/>
            </a:br>
            <a:r>
              <a:rPr lang="it-IT" sz="900"/>
              <a:t>• 69-node NNF → 1-node SDD</a:t>
            </a:r>
            <a:endParaRPr lang="en-US" sz="90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13519FA-D30F-829C-DA14-4A101CEFCEA9}"/>
              </a:ext>
            </a:extLst>
          </p:cNvPr>
          <p:cNvSpPr/>
          <p:nvPr/>
        </p:nvSpPr>
        <p:spPr>
          <a:xfrm>
            <a:off x="4982484" y="2577189"/>
            <a:ext cx="45719" cy="571705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9C96EDA4-8F57-673C-917F-38099872E0F8}"/>
              </a:ext>
            </a:extLst>
          </p:cNvPr>
          <p:cNvSpPr/>
          <p:nvPr/>
        </p:nvSpPr>
        <p:spPr>
          <a:xfrm>
            <a:off x="4982484" y="3500547"/>
            <a:ext cx="45719" cy="576021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A4EF7-2255-D4E3-D12F-21CA3BBE4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8" y="618978"/>
            <a:ext cx="3300535" cy="426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24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"/>
          <p:cNvSpPr/>
          <p:nvPr/>
        </p:nvSpPr>
        <p:spPr>
          <a:xfrm>
            <a:off x="457200" y="152400"/>
            <a:ext cx="8229600" cy="6096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NN2Logic — 7-Stage Pipeline Overview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BNN (Binary Neural Network) → Verifiable Boolean Logic</a:t>
            </a:r>
          </a:p>
        </p:txBody>
      </p:sp>
      <p:sp>
        <p:nvSpPr>
          <p:cNvPr id="10" name="S1Box"/>
          <p:cNvSpPr/>
          <p:nvPr/>
        </p:nvSpPr>
        <p:spPr>
          <a:xfrm>
            <a:off x="228600" y="1066800"/>
            <a:ext cx="1143000" cy="6350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9050">
            <a:solidFill>
              <a:srgbClr val="CADCFC"/>
            </a:solidFill>
          </a:ln>
        </p:spPr>
        <p:txBody>
          <a:bodyPr lIns="45720" r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BNN</a:t>
            </a:r>
          </a:p>
        </p:txBody>
      </p:sp>
      <p:sp>
        <p:nvSpPr>
          <p:cNvPr id="20" name="A1"/>
          <p:cNvSpPr/>
          <p:nvPr/>
        </p:nvSpPr>
        <p:spPr>
          <a:xfrm>
            <a:off x="1371600" y="1320800"/>
            <a:ext cx="304800" cy="12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A90D9"/>
          </a:solidFill>
          <a:ln w="6350">
            <a:solidFill>
              <a:srgbClr val="4A90D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2Box"/>
          <p:cNvSpPr/>
          <p:nvPr/>
        </p:nvSpPr>
        <p:spPr>
          <a:xfrm>
            <a:off x="1676400" y="1066800"/>
            <a:ext cx="1143000" cy="635000"/>
          </a:xfrm>
          <a:prstGeom prst="roundRect">
            <a:avLst>
              <a:gd name="adj" fmla="val 20000"/>
            </a:avLst>
          </a:prstGeom>
          <a:solidFill>
            <a:srgbClr val="1C4A8C"/>
          </a:solidFill>
          <a:ln w="19050">
            <a:solidFill>
              <a:srgbClr val="CADCFC"/>
            </a:solidFill>
          </a:ln>
        </p:spPr>
        <p:txBody>
          <a:bodyPr lIns="45720" r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Weights</a:t>
            </a:r>
          </a:p>
        </p:txBody>
      </p:sp>
      <p:sp>
        <p:nvSpPr>
          <p:cNvPr id="21" name="A2"/>
          <p:cNvSpPr/>
          <p:nvPr/>
        </p:nvSpPr>
        <p:spPr>
          <a:xfrm>
            <a:off x="2819400" y="1320800"/>
            <a:ext cx="304800" cy="12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A90D9"/>
          </a:solidFill>
          <a:ln w="6350">
            <a:solidFill>
              <a:srgbClr val="4A90D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3Box"/>
          <p:cNvSpPr/>
          <p:nvPr/>
        </p:nvSpPr>
        <p:spPr>
          <a:xfrm>
            <a:off x="3124200" y="1066800"/>
            <a:ext cx="1143000" cy="6350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9050">
            <a:solidFill>
              <a:srgbClr val="CADCFC"/>
            </a:solidFill>
          </a:ln>
        </p:spPr>
        <p:txBody>
          <a:bodyPr lIns="45720" r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E0F5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</a:t>
            </a:r>
          </a:p>
        </p:txBody>
      </p:sp>
      <p:sp>
        <p:nvSpPr>
          <p:cNvPr id="22" name="A3"/>
          <p:cNvSpPr/>
          <p:nvPr/>
        </p:nvSpPr>
        <p:spPr>
          <a:xfrm>
            <a:off x="4267200" y="1320800"/>
            <a:ext cx="304800" cy="12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A90D9"/>
          </a:solidFill>
          <a:ln w="6350">
            <a:solidFill>
              <a:srgbClr val="4A90D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4Box"/>
          <p:cNvSpPr/>
          <p:nvPr/>
        </p:nvSpPr>
        <p:spPr>
          <a:xfrm>
            <a:off x="4572000" y="1066800"/>
            <a:ext cx="1143000" cy="6350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9050">
            <a:solidFill>
              <a:srgbClr val="CADCFC"/>
            </a:solidFill>
          </a:ln>
        </p:spPr>
        <p:txBody>
          <a:bodyPr lIns="45720" r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E0F5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NNF/OBDD</a:t>
            </a:r>
          </a:p>
        </p:txBody>
      </p:sp>
      <p:sp>
        <p:nvSpPr>
          <p:cNvPr id="23" name="A4"/>
          <p:cNvSpPr/>
          <p:nvPr/>
        </p:nvSpPr>
        <p:spPr>
          <a:xfrm>
            <a:off x="5715000" y="1320800"/>
            <a:ext cx="304800" cy="12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A90D9"/>
          </a:solidFill>
          <a:ln w="6350">
            <a:solidFill>
              <a:srgbClr val="4A90D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5Box"/>
          <p:cNvSpPr/>
          <p:nvPr/>
        </p:nvSpPr>
        <p:spPr>
          <a:xfrm>
            <a:off x="6019800" y="1066800"/>
            <a:ext cx="1143000" cy="635000"/>
          </a:xfrm>
          <a:prstGeom prst="roundRect">
            <a:avLst>
              <a:gd name="adj" fmla="val 20000"/>
            </a:avLst>
          </a:prstGeom>
          <a:solidFill>
            <a:srgbClr val="2C6E8A"/>
          </a:solidFill>
          <a:ln w="19050">
            <a:solidFill>
              <a:srgbClr val="CADCFC"/>
            </a:solidFill>
          </a:ln>
        </p:spPr>
        <p:txBody>
          <a:bodyPr lIns="45720" r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E0F5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Compose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NNF</a:t>
            </a:r>
          </a:p>
        </p:txBody>
      </p:sp>
      <p:sp>
        <p:nvSpPr>
          <p:cNvPr id="24" name="A5"/>
          <p:cNvSpPr/>
          <p:nvPr/>
        </p:nvSpPr>
        <p:spPr>
          <a:xfrm>
            <a:off x="7162800" y="1320800"/>
            <a:ext cx="304800" cy="12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A90D9"/>
          </a:solidFill>
          <a:ln w="6350">
            <a:solidFill>
              <a:srgbClr val="4A90D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6Box"/>
          <p:cNvSpPr/>
          <p:nvPr/>
        </p:nvSpPr>
        <p:spPr>
          <a:xfrm>
            <a:off x="7467600" y="1066800"/>
            <a:ext cx="1143000" cy="6350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9050">
            <a:solidFill>
              <a:srgbClr val="F4C4BC"/>
            </a:solidFill>
          </a:ln>
        </p:spPr>
        <p:txBody>
          <a:bodyPr lIns="45720" r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4C4B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SDD</a:t>
            </a:r>
          </a:p>
        </p:txBody>
      </p:sp>
      <p:sp>
        <p:nvSpPr>
          <p:cNvPr id="30" name="L1"/>
          <p:cNvSpPr/>
          <p:nvPr/>
        </p:nvSpPr>
        <p:spPr>
          <a:xfrm>
            <a:off x="228600" y="1752600"/>
            <a:ext cx="1143000" cy="304800"/>
          </a:xfrm>
          <a:prstGeom prst="rect">
            <a:avLst/>
          </a:prstGeom>
          <a:noFill/>
        </p:spPr>
        <p:txBody>
          <a:bodyPr lIns="36576" rIns="36576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TensorFlow / Keras training</a:t>
            </a:r>
          </a:p>
        </p:txBody>
      </p:sp>
      <p:sp>
        <p:nvSpPr>
          <p:cNvPr id="31" name="L2"/>
          <p:cNvSpPr/>
          <p:nvPr/>
        </p:nvSpPr>
        <p:spPr>
          <a:xfrm>
            <a:off x="1676400" y="1752600"/>
            <a:ext cx="1143000" cy="304800"/>
          </a:xfrm>
          <a:prstGeom prst="rect">
            <a:avLst/>
          </a:prstGeom>
          <a:noFill/>
        </p:spPr>
        <p:txBody>
          <a:bodyPr lIns="36576" rIns="36576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Layer-wise weight &amp; bias extraction</a:t>
            </a:r>
          </a:p>
        </p:txBody>
      </p:sp>
      <p:sp>
        <p:nvSpPr>
          <p:cNvPr id="32" name="L3"/>
          <p:cNvSpPr/>
          <p:nvPr/>
        </p:nvSpPr>
        <p:spPr>
          <a:xfrm>
            <a:off x="3124200" y="1752600"/>
            <a:ext cx="1143000" cy="304800"/>
          </a:xfrm>
          <a:prstGeom prst="rect">
            <a:avLst/>
          </a:prstGeom>
          <a:noFill/>
        </p:spPr>
        <p:txBody>
          <a:bodyPr lIns="36576" rIns="36576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Per-neuron arithmetic circuit (AC) construction</a:t>
            </a:r>
          </a:p>
        </p:txBody>
      </p:sp>
      <p:sp>
        <p:nvSpPr>
          <p:cNvPr id="33" name="L4"/>
          <p:cNvSpPr/>
          <p:nvPr/>
        </p:nvSpPr>
        <p:spPr>
          <a:xfrm>
            <a:off x="4572000" y="1752600"/>
            <a:ext cx="1143000" cy="304800"/>
          </a:xfrm>
          <a:prstGeom prst="rect">
            <a:avLst/>
          </a:prstGeom>
          <a:noFill/>
        </p:spPr>
        <p:txBody>
          <a:bodyPr lIns="36576" rIns="36576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OBDD pseudo-poly DP → NNF (DNF)</a:t>
            </a:r>
          </a:p>
        </p:txBody>
      </p:sp>
      <p:sp>
        <p:nvSpPr>
          <p:cNvPr id="34" name="L5"/>
          <p:cNvSpPr/>
          <p:nvPr/>
        </p:nvSpPr>
        <p:spPr>
          <a:xfrm>
            <a:off x="6019800" y="1752600"/>
            <a:ext cx="1143000" cy="304800"/>
          </a:xfrm>
          <a:prstGeom prst="rect">
            <a:avLst/>
          </a:prstGeom>
          <a:noFill/>
        </p:spPr>
        <p:txBody>
          <a:bodyPr lIns="36576" rIns="36576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substitution with De Morgan negation</a:t>
            </a:r>
          </a:p>
        </p:txBody>
      </p:sp>
      <p:sp>
        <p:nvSpPr>
          <p:cNvPr id="35" name="L6"/>
          <p:cNvSpPr/>
          <p:nvPr/>
        </p:nvSpPr>
        <p:spPr>
          <a:xfrm>
            <a:off x="7467600" y="1752600"/>
            <a:ext cx="1143000" cy="304800"/>
          </a:xfrm>
          <a:prstGeom prst="rect">
            <a:avLst/>
          </a:prstGeom>
          <a:noFill/>
        </p:spPr>
        <p:txBody>
          <a:bodyPr lIns="36576" rIns="36576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PySDD: conjoin / disjoin NNF nodes</a:t>
            </a:r>
          </a:p>
        </p:txBody>
      </p:sp>
      <p:sp>
        <p:nvSpPr>
          <p:cNvPr id="16" name="S7Box"/>
          <p:cNvSpPr/>
          <p:nvPr/>
        </p:nvSpPr>
        <p:spPr>
          <a:xfrm>
            <a:off x="4011529" y="2571750"/>
            <a:ext cx="4935523" cy="43815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 w="19050">
            <a:solidFill>
              <a:srgbClr val="F4C4BC"/>
            </a:solidFill>
          </a:ln>
        </p:spPr>
        <p:txBody>
          <a:bodyPr lIns="91440" rIns="9144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4C4B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  Verify &amp; Query SDD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▸ Model Counting   ▸ Robustness mr(f)   ▸ Prime Implicants (PI)   ▸ Sensitivity Analysis</a:t>
            </a:r>
          </a:p>
        </p:txBody>
      </p:sp>
      <p:sp>
        <p:nvSpPr>
          <p:cNvPr id="25" name="A6down"/>
          <p:cNvSpPr/>
          <p:nvPr/>
        </p:nvSpPr>
        <p:spPr>
          <a:xfrm rot="5400000">
            <a:off x="7886700" y="2247900"/>
            <a:ext cx="304800" cy="190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A90D9"/>
          </a:solidFill>
          <a:ln w="6350">
            <a:solidFill>
              <a:srgbClr val="4A90D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utTitle"/>
          <p:cNvSpPr/>
          <p:nvPr/>
        </p:nvSpPr>
        <p:spPr>
          <a:xfrm>
            <a:off x="228600" y="3124200"/>
            <a:ext cx="8458800" cy="3048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Representations Produced</a:t>
            </a:r>
          </a:p>
        </p:txBody>
      </p:sp>
      <p:sp>
        <p:nvSpPr>
          <p:cNvPr id="41" name="OA"/>
          <p:cNvSpPr/>
          <p:nvPr/>
        </p:nvSpPr>
        <p:spPr>
          <a:xfrm>
            <a:off x="228600" y="3505200"/>
            <a:ext cx="1606216" cy="1295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9050">
            <a:solidFill>
              <a:srgbClr val="CADCFC"/>
            </a:solidFill>
          </a:ln>
        </p:spPr>
        <p:txBody>
          <a:bodyPr lIns="91440" tIns="91440" rIns="91440" bIns="91440"/>
          <a:lstStyle/>
          <a:p>
            <a:pPr marL="0" marR="0" lvl="0" indent="0" algn="ctr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BNN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Binary +1/−1 weights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activations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 representation</a:t>
            </a:r>
          </a:p>
        </p:txBody>
      </p:sp>
      <p:sp>
        <p:nvSpPr>
          <p:cNvPr id="42" name="OB"/>
          <p:cNvSpPr/>
          <p:nvPr/>
        </p:nvSpPr>
        <p:spPr>
          <a:xfrm>
            <a:off x="2319087" y="3498850"/>
            <a:ext cx="1692442" cy="1295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9050">
            <a:solidFill>
              <a:srgbClr val="CADCFC"/>
            </a:solidFill>
          </a:ln>
        </p:spPr>
        <p:txBody>
          <a:bodyPr lIns="91440" tIns="91440" rIns="91440" bIns="91440"/>
          <a:lstStyle/>
          <a:p>
            <a:pPr marL="0" marR="0" lvl="0" indent="0" algn="ctr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0F5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 → NNF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ACs (9–15 nodes)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OBDD DP compilation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E0F5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Boolean logic form</a:t>
            </a:r>
          </a:p>
        </p:txBody>
      </p:sp>
      <p:sp>
        <p:nvSpPr>
          <p:cNvPr id="43" name="OC"/>
          <p:cNvSpPr/>
          <p:nvPr/>
        </p:nvSpPr>
        <p:spPr>
          <a:xfrm>
            <a:off x="4495800" y="3517733"/>
            <a:ext cx="1692442" cy="1295400"/>
          </a:xfrm>
          <a:prstGeom prst="roundRect">
            <a:avLst>
              <a:gd name="adj" fmla="val 10000"/>
            </a:avLst>
          </a:prstGeom>
          <a:solidFill>
            <a:srgbClr val="2C6E8A"/>
          </a:solidFill>
          <a:ln w="19050">
            <a:solidFill>
              <a:srgbClr val="CADCFC"/>
            </a:solidFill>
          </a:ln>
        </p:spPr>
        <p:txBody>
          <a:bodyPr lIns="91440" tIns="91440" rIns="91440" bIns="91440"/>
          <a:lstStyle/>
          <a:p>
            <a:pPr marL="0" marR="0" lvl="0" indent="0" algn="ctr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Composed NNF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69 nodes (XOR)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 Morgan substitution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End-to-end circuit</a:t>
            </a:r>
          </a:p>
        </p:txBody>
      </p:sp>
      <p:sp>
        <p:nvSpPr>
          <p:cNvPr id="44" name="OD"/>
          <p:cNvSpPr/>
          <p:nvPr/>
        </p:nvSpPr>
        <p:spPr>
          <a:xfrm>
            <a:off x="6629400" y="3530599"/>
            <a:ext cx="1692442" cy="1270167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 w="19050">
            <a:solidFill>
              <a:srgbClr val="F4C4BC"/>
            </a:solidFill>
          </a:ln>
        </p:spPr>
        <p:txBody>
          <a:bodyPr lIns="91440" tIns="91440" rIns="91440" bIns="91440"/>
          <a:lstStyle/>
          <a:p>
            <a:pPr marL="0" marR="0" lvl="0" indent="0" algn="ctr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C4B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SDD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node (XOR)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count: 2/4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4C4B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Queryable logic form</a:t>
            </a:r>
          </a:p>
        </p:txBody>
      </p:sp>
      <p:sp>
        <p:nvSpPr>
          <p:cNvPr id="50" name="Footer"/>
          <p:cNvSpPr/>
          <p:nvPr/>
        </p:nvSpPr>
        <p:spPr>
          <a:xfrm>
            <a:off x="0" y="4991100"/>
            <a:ext cx="9144000" cy="400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7993 | Section W01/01 | Spring 2026  |  nn2logic — AC-1  |  Final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Process &amp; SDLC Activities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365760" y="63093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and work completed so far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1435608" cy="82296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60704"/>
            <a:ext cx="1435608" cy="510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(RAD)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347472" y="1542593"/>
            <a:ext cx="143560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30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1783080" y="1403604"/>
            <a:ext cx="347472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30552" y="1024128"/>
            <a:ext cx="1435608" cy="822960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30552" y="1060704"/>
            <a:ext cx="1435608" cy="510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2130552" y="1542593"/>
            <a:ext cx="143560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Feb-10-Apr2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3566160" y="1403604"/>
            <a:ext cx="347472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13632" y="1024128"/>
            <a:ext cx="1435608" cy="82296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13632" y="1060704"/>
            <a:ext cx="1435608" cy="510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3913632" y="1542593"/>
            <a:ext cx="143560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5349240" y="1403604"/>
            <a:ext cx="347472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96712" y="1024128"/>
            <a:ext cx="1435608" cy="822960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96712" y="1060704"/>
            <a:ext cx="1435608" cy="510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5696712" y="1542593"/>
            <a:ext cx="143560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9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7132320" y="1403604"/>
            <a:ext cx="347472" cy="6400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79792" y="1024128"/>
            <a:ext cx="1435608" cy="822960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79792" y="1060704"/>
            <a:ext cx="1435608" cy="510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7479792" y="1542593"/>
            <a:ext cx="143560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4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365760" y="2011680"/>
            <a:ext cx="4114800" cy="3017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1E2761"/>
                </a:solidFill>
                <a:ea typeface="+mn-lt"/>
                <a:cs typeface="+mn-lt"/>
              </a:rPr>
              <a:t>Completed</a:t>
            </a:r>
            <a:endParaRPr lang="en-US" b="1"/>
          </a:p>
        </p:txBody>
      </p:sp>
      <p:sp>
        <p:nvSpPr>
          <p:cNvPr id="25" name="Text 23"/>
          <p:cNvSpPr/>
          <p:nvPr/>
        </p:nvSpPr>
        <p:spPr>
          <a:xfrm>
            <a:off x="365760" y="2340864"/>
            <a:ext cx="41605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 &amp; Project Plan (RAD) — Jan 30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BNN-to-Boolean circuit methods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experiment: network trained, converged at epoch 189, accuracy 100%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extraction pipeline implemented &amp; verified vs. TF forward pass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construction (5 neurons, 9–15 nodes each) — all verified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NNF / OBDD compilation — all 5 neurons correct on full input space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4736592" y="1993392"/>
            <a:ext cx="41148" cy="2633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2011680"/>
            <a:ext cx="3886200" cy="3017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1E2761"/>
                </a:solidFill>
                <a:ea typeface="+mn-lt"/>
                <a:cs typeface="+mn-lt"/>
              </a:rPr>
              <a:t>Final Deliverables</a:t>
            </a:r>
            <a:endParaRPr lang="en-US" b="1"/>
          </a:p>
        </p:txBody>
      </p:sp>
      <p:sp>
        <p:nvSpPr>
          <p:cNvPr id="28" name="Text 26"/>
          <p:cNvSpPr/>
          <p:nvPr/>
        </p:nvSpPr>
        <p:spPr>
          <a:xfrm>
            <a:off x="4892040" y="2340864"/>
            <a:ext cx="38862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compilation — XOR experiment complete ✓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analysis (Algorithm 1 / SSDC20) — complete ✓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milestone — complete ✓</a:t>
            </a:r>
          </a:p>
          <a:p>
            <a:pPr marL="342900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pipeline to deeper / wider networks — complete ✓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Package  — May 4 ✓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| Section W01/01 | Spring 2026  |  nn2logic — AC-1  |  Prototype Presentation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Pipeline — End-to-End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365760" y="63093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BNN → Boolean Circuit → OBDD / SDD → Robustness Analysis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01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901952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BNN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393192" y="1810512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20">
                <a:solidFill>
                  <a:srgbClr val="94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task. 2 inputs, 4 hidden neurons, 1 output. 17 params. Converged epoch 189. Accuracy: 100%.</a:t>
            </a:r>
            <a:endParaRPr lang="en-US" sz="820"/>
          </a:p>
        </p:txBody>
      </p:sp>
      <p:sp>
        <p:nvSpPr>
          <p:cNvPr id="10" name="Shape 8"/>
          <p:cNvSpPr/>
          <p:nvPr/>
        </p:nvSpPr>
        <p:spPr>
          <a:xfrm>
            <a:off x="2221992" y="1673352"/>
            <a:ext cx="201168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1024128"/>
            <a:ext cx="1901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3160" y="1024128"/>
            <a:ext cx="1901952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23160" y="1024128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423160" y="137160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Extraction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2496312" y="1810512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20">
                <a:solidFill>
                  <a:srgbClr val="94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extracted layer-by-layer. Binarized TF vs AC pipeline: ALL LAYERS TRACEABLE.</a:t>
            </a:r>
            <a:endParaRPr lang="en-US" sz="820"/>
          </a:p>
        </p:txBody>
      </p:sp>
      <p:sp>
        <p:nvSpPr>
          <p:cNvPr id="16" name="Shape 14"/>
          <p:cNvSpPr/>
          <p:nvPr/>
        </p:nvSpPr>
        <p:spPr>
          <a:xfrm>
            <a:off x="4325112" y="1673352"/>
            <a:ext cx="201168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26280" y="1024128"/>
            <a:ext cx="1901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26280" y="1024128"/>
            <a:ext cx="1901952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26280" y="1024128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4526280" y="137160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→ NNF / OBDD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599432" y="1810512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20">
                <a:solidFill>
                  <a:srgbClr val="94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ACs built (9–15 nodes). Compiled to NNF. 4 neurons: 4 nodes. Output neuron: 61 nodes. All verified.</a:t>
            </a:r>
            <a:endParaRPr lang="en-US" sz="820"/>
          </a:p>
        </p:txBody>
      </p:sp>
      <p:sp>
        <p:nvSpPr>
          <p:cNvPr id="22" name="Shape 20"/>
          <p:cNvSpPr/>
          <p:nvPr/>
        </p:nvSpPr>
        <p:spPr>
          <a:xfrm>
            <a:off x="6428232" y="1673352"/>
            <a:ext cx="201168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1024128"/>
            <a:ext cx="1901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1024128"/>
            <a:ext cx="1901952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9400" y="1024128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6629400" y="137160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+ Robustness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6702552" y="1810512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20">
                <a:solidFill>
                  <a:srgbClr val="94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NNF: 69 nodes. SDD: 1 node. Model count 2/4. Robustness mr(f) = 0.50. Prime implicants found.</a:t>
            </a:r>
            <a:endParaRPr lang="en-US" sz="820"/>
          </a:p>
        </p:txBody>
      </p:sp>
      <p:sp>
        <p:nvSpPr>
          <p:cNvPr id="28" name="Shape 26"/>
          <p:cNvSpPr/>
          <p:nvPr/>
        </p:nvSpPr>
        <p:spPr>
          <a:xfrm>
            <a:off x="320040" y="2560320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2560320"/>
            <a:ext cx="54864" cy="19933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8056" y="264261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Representations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448056" y="2944368"/>
            <a:ext cx="395935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OBDD (Ordered Binary Decision Diagram)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Canonical Boolean function form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Polynomial-time decision queries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4 hidden neurons: 4 NNF nodes each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Output neuron: 61 NNF nodes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(Sentential Decision Diagram)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Precise than OBDDs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Broader tractable operations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Compiled to 1 SDD node for XOR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4663440" y="2560320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2560320"/>
            <a:ext cx="54864" cy="199339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91456" y="264261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Verification Results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4791456" y="2944368"/>
            <a:ext cx="395935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Binarized TF vs AC hidden layer:   MATCH all 4 inputs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Binarized TF vs AC output layer:    MATCH all 4 inputs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Composed NNF vs binarized TF:    MATCH all 4 inputs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SDD vs binarized TF:                         MATCH all 4 inputs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count:  2 / 4 inputs satisfy the network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robustness:  1 bit flip needed to change any classification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implicants:  { x1=0, x2=1 }  and  { x1=1, x2=0 }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| Section W01/01 | Spring 2026  |  nn2logic — AC-1  |  Final Presentation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Results — XOR Experiment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3093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from the nn2logic pipeline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572768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42416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2093976" y="1024128"/>
            <a:ext cx="1572768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93976" y="1042416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189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2093976" y="15270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3867912" y="1024128"/>
            <a:ext cx="1572768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67912" y="1042416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3867912" y="15270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(NNF)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5641848" y="1024128"/>
            <a:ext cx="1572768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41848" y="1042416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5641848" y="15270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Inputs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7415784" y="1024128"/>
            <a:ext cx="1572768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15784" y="1042416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7415784" y="15270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320040" y="2057400"/>
            <a:ext cx="2194560" cy="2633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057400"/>
            <a:ext cx="2194560" cy="310896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0574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Truth Table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11480" y="2404872"/>
            <a:ext cx="201168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   Pred   Match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0]  →   0     ✓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1]  →   1     ✓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0]  →   1     ✓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1]  →   0     ✓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2697480" y="2057400"/>
            <a:ext cx="2331720" cy="2633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697480" y="2057400"/>
            <a:ext cx="2331720" cy="31089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88920" y="205740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NNF Node Counts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2788920" y="2404872"/>
            <a:ext cx="214884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neuron 1:   10 nodes  (3/4 sat)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neuron 2:    4 nodes  (1/4 sat)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neuron 3:    4 nodes  (1/4 sat)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neuron 4:   10 nodes  (3/4 sat)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neuron 1:   61 nodes  (12/16 sat)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NNF:      69 nodes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5212080" y="2057400"/>
            <a:ext cx="3611880" cy="2633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12080" y="2057400"/>
            <a:ext cx="3611880" cy="3108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0" y="205740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Analysis (Algorithm 1 / SSDC20)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5303520" y="2404872"/>
            <a:ext cx="342900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 x1, x2   |   n=2, total inputs=4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inputs (model count):  2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sensitive to both x1 and x2: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[0,0] out=0  sensitive: x1, x2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[0,1] out=1  sensitive: x1, x2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[1,0] out=1  sensitive: x1, x2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[1,1] out=0  sensitive: x1, x2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robustness mr(f) = 0.5000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robustness = 1  (1 bit flip to flip class)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implicants: {x1=0,x2=1}  {x1=1,x2=0}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| Section W01/01 | Spring 2026  |  nn2logic — AC-1  |  Final Presentation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820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101600"/>
            <a:ext cx="8229600" cy="555540"/>
          </a:xfrm>
          <a:prstGeom prst="rect">
            <a:avLst/>
          </a:prstGeom>
          <a:noFill/>
        </p:spPr>
        <p:txBody>
          <a:bodyPr lIns="91440" tIns="45720" rIns="91440" bIns="45720" anchor="ctr"/>
          <a:lstStyle/>
          <a:p>
            <a:r>
              <a:rPr lang="en-US" sz="2600" b="1">
                <a:solidFill>
                  <a:srgbClr val="FFFFFF"/>
                </a:solidFill>
                <a:latin typeface="Calibri"/>
              </a:rPr>
              <a:t>Final Results — All Datasets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60400"/>
            <a:ext cx="8229600" cy="2286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200" b="0" i="1">
                <a:solidFill>
                  <a:srgbClr val="CADCFC"/>
                </a:solidFill>
                <a:latin typeface="Calibri"/>
              </a:rPr>
              <a:t>Scaled v1.0 pipeline — XOR · AND · OR · Majority-3</a:t>
            </a:r>
          </a:p>
        </p:txBody>
      </p:sp>
      <p:sp>
        <p:nvSpPr>
          <p:cNvPr id="10" name="XORCard"/>
          <p:cNvSpPr/>
          <p:nvPr/>
        </p:nvSpPr>
        <p:spPr>
          <a:xfrm>
            <a:off x="228600" y="952500"/>
            <a:ext cx="2057400" cy="3134165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9050">
            <a:solidFill>
              <a:srgbClr val="CADCFC"/>
            </a:solidFill>
          </a:ln>
        </p:spPr>
        <p:txBody>
          <a:bodyPr lIns="91440" tIns="91440" rIns="91440" anchor="t"/>
          <a:lstStyle/>
          <a:p>
            <a:r>
              <a:rPr lang="en-US" sz="1800" b="1">
                <a:solidFill>
                  <a:srgbClr val="CADCFC"/>
                </a:solidFill>
                <a:latin typeface="Calibri"/>
              </a:rPr>
              <a:t>XOR</a:t>
            </a:r>
          </a:p>
          <a:p>
            <a:r>
              <a:rPr lang="en-US" sz="900" b="0">
                <a:solidFill>
                  <a:srgbClr val="CADCFC"/>
                </a:solidFill>
                <a:latin typeface="Calibri"/>
              </a:rPr>
              <a:t>2 inputs · Non-linear</a:t>
            </a:r>
          </a:p>
          <a:p>
            <a:endParaRPr/>
          </a:p>
          <a:p>
            <a:r>
              <a:rPr lang="en-US" sz="1100" b="1">
                <a:solidFill>
                  <a:srgbClr val="00FF99"/>
                </a:solidFill>
                <a:latin typeface="Calibri"/>
              </a:rPr>
              <a:t>✓ 100% Accuracy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Converged ep 63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SDD: 1 node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Model count: 2/4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mr(f) = 0.50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PIs: {x1=0,x2=1}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    {x1=1,x2=0}</a:t>
            </a:r>
          </a:p>
          <a:p>
            <a:r>
              <a:rPr lang="en-US" sz="1000" b="1">
                <a:solidFill>
                  <a:srgbClr val="00FF99"/>
                </a:solidFill>
                <a:latin typeface="Calibri"/>
              </a:rPr>
              <a:t>All layers traced</a:t>
            </a:r>
          </a:p>
        </p:txBody>
      </p:sp>
      <p:sp>
        <p:nvSpPr>
          <p:cNvPr id="11" name="ANDCard"/>
          <p:cNvSpPr/>
          <p:nvPr/>
        </p:nvSpPr>
        <p:spPr>
          <a:xfrm>
            <a:off x="2514600" y="952500"/>
            <a:ext cx="2057400" cy="3134165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9050">
            <a:solidFill>
              <a:srgbClr val="CADCFC"/>
            </a:solidFill>
          </a:ln>
        </p:spPr>
        <p:txBody>
          <a:bodyPr lIns="91440" tIns="91440" rIns="91440" anchor="t"/>
          <a:lstStyle/>
          <a:p>
            <a:r>
              <a:rPr lang="en-US" sz="1800" b="1">
                <a:solidFill>
                  <a:srgbClr val="CADCFC"/>
                </a:solidFill>
                <a:latin typeface="Calibri"/>
              </a:rPr>
              <a:t>AND</a:t>
            </a:r>
          </a:p>
          <a:p>
            <a:r>
              <a:rPr lang="en-US" sz="900" b="0">
                <a:solidFill>
                  <a:srgbClr val="CADCFC"/>
                </a:solidFill>
                <a:latin typeface="Calibri"/>
              </a:rPr>
              <a:t>2 inputs · Linear</a:t>
            </a:r>
          </a:p>
          <a:p>
            <a:endParaRPr/>
          </a:p>
          <a:p>
            <a:r>
              <a:rPr lang="en-US" sz="1100" b="1">
                <a:solidFill>
                  <a:srgbClr val="00FF99"/>
                </a:solidFill>
                <a:latin typeface="Calibri"/>
              </a:rPr>
              <a:t>✓ 100% Accuracy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Positive: 1/4 (25%)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AC/NNF verified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Linearly separable</a:t>
            </a:r>
          </a:p>
          <a:p>
            <a:r>
              <a:rPr lang="en-US" sz="1000" b="1">
                <a:solidFill>
                  <a:srgbClr val="00FF99"/>
                </a:solidFill>
                <a:latin typeface="Calibri"/>
              </a:rPr>
              <a:t>SDD compiled ✓</a:t>
            </a:r>
          </a:p>
        </p:txBody>
      </p:sp>
      <p:sp>
        <p:nvSpPr>
          <p:cNvPr id="12" name="ORCard"/>
          <p:cNvSpPr/>
          <p:nvPr/>
        </p:nvSpPr>
        <p:spPr>
          <a:xfrm>
            <a:off x="4800600" y="952500"/>
            <a:ext cx="2057400" cy="3134165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9050">
            <a:solidFill>
              <a:srgbClr val="CADCFC"/>
            </a:solidFill>
          </a:ln>
        </p:spPr>
        <p:txBody>
          <a:bodyPr lIns="91440" tIns="91440" rIns="91440" anchor="t"/>
          <a:lstStyle/>
          <a:p>
            <a:r>
              <a:rPr lang="en-US" sz="1800" b="1">
                <a:solidFill>
                  <a:srgbClr val="CADCFC"/>
                </a:solidFill>
                <a:latin typeface="Calibri"/>
              </a:rPr>
              <a:t>OR</a:t>
            </a:r>
          </a:p>
          <a:p>
            <a:r>
              <a:rPr lang="en-US" sz="900" b="0">
                <a:solidFill>
                  <a:srgbClr val="CADCFC"/>
                </a:solidFill>
                <a:latin typeface="Calibri"/>
              </a:rPr>
              <a:t>2 inputs · Linear</a:t>
            </a:r>
          </a:p>
          <a:p>
            <a:endParaRPr/>
          </a:p>
          <a:p>
            <a:r>
              <a:rPr lang="en-US" sz="1100" b="1">
                <a:solidFill>
                  <a:srgbClr val="00FF99"/>
                </a:solidFill>
                <a:latin typeface="Calibri"/>
              </a:rPr>
              <a:t>✓ 100% Accuracy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Positive: 3/4 (75%)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AC/NNF verified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Linearly separable</a:t>
            </a:r>
          </a:p>
          <a:p>
            <a:r>
              <a:rPr lang="en-US" sz="1000" b="1">
                <a:solidFill>
                  <a:srgbClr val="00FF99"/>
                </a:solidFill>
                <a:latin typeface="Calibri"/>
              </a:rPr>
              <a:t>SDD compiled ✓</a:t>
            </a:r>
          </a:p>
        </p:txBody>
      </p:sp>
      <p:sp>
        <p:nvSpPr>
          <p:cNvPr id="13" name="Maj3Card"/>
          <p:cNvSpPr/>
          <p:nvPr/>
        </p:nvSpPr>
        <p:spPr>
          <a:xfrm>
            <a:off x="7086600" y="952500"/>
            <a:ext cx="2057400" cy="3134165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9050">
            <a:solidFill>
              <a:srgbClr val="F9E795"/>
            </a:solidFill>
          </a:ln>
        </p:spPr>
        <p:txBody>
          <a:bodyPr lIns="91440" tIns="91440" rIns="91440" anchor="t"/>
          <a:lstStyle/>
          <a:p>
            <a:r>
              <a:rPr lang="en-US" sz="1400" b="1">
                <a:solidFill>
                  <a:srgbClr val="F9E795"/>
                </a:solidFill>
                <a:latin typeface="Calibri"/>
              </a:rPr>
              <a:t>Majority-3</a:t>
            </a:r>
          </a:p>
          <a:p>
            <a:r>
              <a:rPr lang="en-US" sz="900" b="0">
                <a:solidFill>
                  <a:srgbClr val="CADCFC"/>
                </a:solidFill>
                <a:latin typeface="Calibri"/>
              </a:rPr>
              <a:t>3 inputs · Non-linear</a:t>
            </a:r>
          </a:p>
          <a:p>
            <a:endParaRPr/>
          </a:p>
          <a:p>
            <a:r>
              <a:rPr lang="en-US" sz="1100" b="1">
                <a:solidFill>
                  <a:srgbClr val="00FF99"/>
                </a:solidFill>
                <a:latin typeface="Calibri"/>
              </a:rPr>
              <a:t>✓ 100% Accuracy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Positive: 4/8 (50%)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NNF verified ✓</a:t>
            </a:r>
          </a:p>
          <a:p>
            <a:r>
              <a:rPr lang="en-US" sz="1000" b="0">
                <a:solidFill>
                  <a:srgbClr val="FFFFFF"/>
                </a:solidFill>
                <a:latin typeface="Calibri"/>
              </a:rPr>
              <a:t>2 hidden layers req.</a:t>
            </a:r>
          </a:p>
          <a:p>
            <a:r>
              <a:rPr lang="en-US" sz="1000" b="1">
                <a:solidFill>
                  <a:srgbClr val="F9E795"/>
                </a:solidFill>
                <a:latin typeface="Calibri"/>
              </a:rPr>
              <a:t>SDD: env. constraint</a:t>
            </a:r>
          </a:p>
        </p:txBody>
      </p:sp>
      <p:sp>
        <p:nvSpPr>
          <p:cNvPr id="20" name="Footer"/>
          <p:cNvSpPr/>
          <p:nvPr/>
        </p:nvSpPr>
        <p:spPr>
          <a:xfrm>
            <a:off x="0" y="4848300"/>
            <a:ext cx="9144000" cy="295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91440" anchor="ctr"/>
          <a:lstStyle/>
          <a:p>
            <a:pPr algn="ctr"/>
            <a:r>
              <a:rPr lang="en-US" sz="800" b="0">
                <a:solidFill>
                  <a:srgbClr val="CADCFC"/>
                </a:solidFill>
                <a:latin typeface="Calibri"/>
              </a:rPr>
              <a:t>AI 7993 | Section W01/01 | Spring 2026  |  nn2logic — AC-1  |  Final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672D2-5696-C83C-04E3-67F48B38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57ED7C2E-C935-CD0D-B804-A0B479527C31}"/>
              </a:ext>
            </a:extLst>
          </p:cNvPr>
          <p:cNvSpPr/>
          <p:nvPr/>
        </p:nvSpPr>
        <p:spPr>
          <a:xfrm>
            <a:off x="0" y="0"/>
            <a:ext cx="9144000" cy="820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91440" tIns="45720" rIns="91440" bIns="45720" anchor="t"/>
          <a:lstStyle/>
          <a:p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Figure Representations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A1AED11-BC76-8CEC-40FC-E143C811953A}"/>
              </a:ext>
            </a:extLst>
          </p:cNvPr>
          <p:cNvSpPr/>
          <p:nvPr/>
        </p:nvSpPr>
        <p:spPr>
          <a:xfrm>
            <a:off x="457200" y="101600"/>
            <a:ext cx="8229600" cy="818029"/>
          </a:xfrm>
          <a:prstGeom prst="rect">
            <a:avLst/>
          </a:prstGeom>
          <a:noFill/>
        </p:spPr>
        <p:txBody>
          <a:bodyPr lIns="91440" tIns="45720" rIns="91440" bIns="45720" anchor="ctr"/>
          <a:lstStyle/>
          <a:p>
            <a:endParaRPr lang="en-US" sz="26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7A1FAC9A-F276-85C4-CCFD-A9D55ECE1425}"/>
              </a:ext>
            </a:extLst>
          </p:cNvPr>
          <p:cNvSpPr/>
          <p:nvPr/>
        </p:nvSpPr>
        <p:spPr>
          <a:xfrm>
            <a:off x="457200" y="660400"/>
            <a:ext cx="8229600" cy="228600"/>
          </a:xfrm>
          <a:prstGeom prst="rect">
            <a:avLst/>
          </a:prstGeom>
          <a:noFill/>
        </p:spPr>
        <p:txBody>
          <a:bodyPr lIns="91440" tIns="45720" rIns="91440" bIns="45720" anchor="ctr"/>
          <a:lstStyle/>
          <a:p>
            <a:endParaRPr lang="en-US" sz="1200" b="0" i="1">
              <a:solidFill>
                <a:srgbClr val="CADCF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Footer">
            <a:extLst>
              <a:ext uri="{FF2B5EF4-FFF2-40B4-BE49-F238E27FC236}">
                <a16:creationId xmlns:a16="http://schemas.microsoft.com/office/drawing/2014/main" id="{A50B954E-D87E-0FF7-035C-0AE8FD22411C}"/>
              </a:ext>
            </a:extLst>
          </p:cNvPr>
          <p:cNvSpPr/>
          <p:nvPr/>
        </p:nvSpPr>
        <p:spPr>
          <a:xfrm>
            <a:off x="0" y="4848300"/>
            <a:ext cx="9144000" cy="295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91440" anchor="ctr"/>
          <a:lstStyle/>
          <a:p>
            <a:pPr algn="ctr"/>
            <a:r>
              <a:rPr lang="en-US" sz="800" b="0">
                <a:solidFill>
                  <a:srgbClr val="CADCFC"/>
                </a:solidFill>
                <a:latin typeface="Calibri"/>
              </a:rPr>
              <a:t>AI 7993 | Section W01/01 | Spring 2026  |  nn2logic — AC-1  |  Final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D39ED-EB34-28FB-0BFC-E84593A8E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7473"/>
            <a:ext cx="5546481" cy="1979016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F671DDFE-79F7-D841-0850-80F29C7B2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896" y="2385645"/>
            <a:ext cx="2605226" cy="21018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812174B-41E7-5ACE-7C51-E2B0B76244F5}"/>
              </a:ext>
            </a:extLst>
          </p:cNvPr>
          <p:cNvSpPr txBox="1"/>
          <p:nvPr/>
        </p:nvSpPr>
        <p:spPr>
          <a:xfrm>
            <a:off x="469900" y="3213100"/>
            <a:ext cx="47625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accent1">
                    <a:lumMod val="76000"/>
                  </a:schemeClr>
                </a:solidFill>
                <a:ea typeface="Calibri"/>
                <a:cs typeface="Calibri"/>
              </a:rPr>
              <a:t>Training Loss and accuracy curves for multilayer XOR network</a:t>
            </a:r>
            <a:endParaRPr lang="en-US" sz="1400" i="1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42D137-5877-64AE-9C49-00C8259F6E75}"/>
              </a:ext>
            </a:extLst>
          </p:cNvPr>
          <p:cNvSpPr txBox="1"/>
          <p:nvPr/>
        </p:nvSpPr>
        <p:spPr>
          <a:xfrm>
            <a:off x="6057900" y="1333500"/>
            <a:ext cx="29337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accent1">
                    <a:lumMod val="76000"/>
                  </a:schemeClr>
                </a:solidFill>
                <a:ea typeface="Calibri"/>
                <a:cs typeface="Calibri"/>
              </a:rPr>
              <a:t>AC representation for hidden layer neuron</a:t>
            </a:r>
          </a:p>
        </p:txBody>
      </p:sp>
    </p:spTree>
    <p:extLst>
      <p:ext uri="{BB962C8B-B14F-4D97-AF65-F5344CB8AC3E}">
        <p14:creationId xmlns:p14="http://schemas.microsoft.com/office/powerpoint/2010/main" val="290947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Summary 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2336" cy="402336"/>
          </a:xfrm>
          <a:prstGeom prst="rect">
            <a:avLst/>
          </a:prstGeom>
          <a:solidFill>
            <a:srgbClr val="1A4D2A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932688" y="11887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nn2logic converts BNNs into exact logical representations (OBDDs &amp; SDDs) enabling precise, verifiable AI reasoning</a:t>
            </a:r>
            <a:endParaRPr lang="en-US" sz="115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02336" cy="402336"/>
          </a:xfrm>
          <a:prstGeom prst="rect">
            <a:avLst/>
          </a:prstGeom>
          <a:solidFill>
            <a:srgbClr val="1A4D2A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932688" y="184708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XOR experiment pipeline complete: training → weight extraction → AC/NNF/OBDD → SDD — all layers verified correct</a:t>
            </a:r>
            <a:endParaRPr lang="en-US" sz="115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2496312"/>
            <a:ext cx="402336" cy="402336"/>
          </a:xfrm>
          <a:prstGeom prst="rect">
            <a:avLst/>
          </a:prstGeom>
          <a:solidFill>
            <a:srgbClr val="1A4D2A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932688" y="250545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analysis (Algorithm 1 / SSDC20): mr(f) = 0.50, max robustness = 1, prime implicants { x1=0,x2=1 } { x1=1,x2=0 }</a:t>
            </a:r>
            <a:endParaRPr lang="en-US" sz="115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" y="3145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932688" y="316382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v1.0 pipeline supports arbitrary depth/width via dynamic layer traversal &amp; iterative NNF composition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932688" y="38221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real-world datasets, multi-output networks, SDD minimization, formal verification tool integration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Section W01/01 – Spring 2026</a:t>
            </a:r>
            <a:endParaRPr lang="en-US" sz="130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71FCCFEB-8F1D-CEDC-E16D-5C4988AE5C53}"/>
              </a:ext>
            </a:extLst>
          </p:cNvPr>
          <p:cNvSpPr/>
          <p:nvPr/>
        </p:nvSpPr>
        <p:spPr>
          <a:xfrm>
            <a:off x="365760" y="3840480"/>
            <a:ext cx="402336" cy="365760"/>
          </a:xfrm>
          <a:prstGeom prst="rect">
            <a:avLst/>
          </a:prstGeom>
          <a:solidFill>
            <a:srgbClr val="1A4D2A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/>
          </a:p>
          <a:p>
            <a:endParaRPr lang="en-US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1E1FCDBB-4409-3462-9A69-C518A469C2FE}"/>
              </a:ext>
            </a:extLst>
          </p:cNvPr>
          <p:cNvSpPr/>
          <p:nvPr/>
        </p:nvSpPr>
        <p:spPr>
          <a:xfrm>
            <a:off x="365760" y="3193366"/>
            <a:ext cx="402336" cy="365760"/>
          </a:xfrm>
          <a:prstGeom prst="rect">
            <a:avLst/>
          </a:prstGeom>
          <a:solidFill>
            <a:srgbClr val="1A4D2A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/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892DB-FCAD-655A-24E2-DAF311B5C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3F83DA18-D214-ABE1-4A79-A515F11EE1CC}"/>
              </a:ext>
            </a:extLst>
          </p:cNvPr>
          <p:cNvSpPr/>
          <p:nvPr/>
        </p:nvSpPr>
        <p:spPr>
          <a:xfrm>
            <a:off x="0" y="0"/>
            <a:ext cx="9144000" cy="820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7949EF3-5503-FD20-5C3C-176A4EBA7B04}"/>
              </a:ext>
            </a:extLst>
          </p:cNvPr>
          <p:cNvSpPr/>
          <p:nvPr/>
        </p:nvSpPr>
        <p:spPr>
          <a:xfrm>
            <a:off x="457200" y="101600"/>
            <a:ext cx="8229600" cy="609600"/>
          </a:xfrm>
          <a:prstGeom prst="rect">
            <a:avLst/>
          </a:prstGeom>
          <a:noFill/>
        </p:spPr>
        <p:txBody>
          <a:bodyPr anchor="ctr"/>
          <a:lstStyle/>
          <a:p>
            <a:endParaRPr lang="en-US"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093FB713-4D1A-8F34-68CF-F84B35A3A295}"/>
              </a:ext>
            </a:extLst>
          </p:cNvPr>
          <p:cNvSpPr/>
          <p:nvPr/>
        </p:nvSpPr>
        <p:spPr>
          <a:xfrm>
            <a:off x="457200" y="660400"/>
            <a:ext cx="8229600" cy="228600"/>
          </a:xfrm>
          <a:prstGeom prst="rect">
            <a:avLst/>
          </a:prstGeom>
          <a:noFill/>
        </p:spPr>
        <p:txBody>
          <a:bodyPr anchor="ctr"/>
          <a:lstStyle/>
          <a:p>
            <a:endParaRPr lang="en-US" sz="1200" b="0" i="1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20" name="Footer">
            <a:extLst>
              <a:ext uri="{FF2B5EF4-FFF2-40B4-BE49-F238E27FC236}">
                <a16:creationId xmlns:a16="http://schemas.microsoft.com/office/drawing/2014/main" id="{38C57B3A-2DDD-6327-D57F-26DAF8AE15D8}"/>
              </a:ext>
            </a:extLst>
          </p:cNvPr>
          <p:cNvSpPr/>
          <p:nvPr/>
        </p:nvSpPr>
        <p:spPr>
          <a:xfrm>
            <a:off x="0" y="4848300"/>
            <a:ext cx="9144000" cy="295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91440" anchor="ctr"/>
          <a:lstStyle/>
          <a:p>
            <a:pPr algn="ctr"/>
            <a:r>
              <a:rPr lang="en-US" sz="800" b="0">
                <a:solidFill>
                  <a:srgbClr val="CADCFC"/>
                </a:solidFill>
                <a:latin typeface="Calibri"/>
              </a:rPr>
              <a:t>AI 7993 | Section W01/01 | Spring 2026  |  nn2logic — AC-1  |  Final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B5666-AD88-FF66-D9B0-FB7B685543D3}"/>
              </a:ext>
            </a:extLst>
          </p:cNvPr>
          <p:cNvSpPr txBox="1"/>
          <p:nvPr/>
        </p:nvSpPr>
        <p:spPr>
          <a:xfrm>
            <a:off x="1920240" y="1962443"/>
            <a:ext cx="56130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/>
              <a:t>Thank you!</a:t>
            </a:r>
            <a:br>
              <a:rPr lang="en-IN" sz="3200"/>
            </a:br>
            <a:br>
              <a:rPr lang="en-IN" sz="3200"/>
            </a:br>
            <a:r>
              <a:rPr lang="en-IN" sz="3200"/>
              <a:t>Questions!</a:t>
            </a:r>
          </a:p>
        </p:txBody>
      </p:sp>
    </p:spTree>
    <p:extLst>
      <p:ext uri="{BB962C8B-B14F-4D97-AF65-F5344CB8AC3E}">
        <p14:creationId xmlns:p14="http://schemas.microsoft.com/office/powerpoint/2010/main" val="3675585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AC-1 nn2logic Prototype Presentation</dc:title>
  <dc:subject>PptxGenJS Presentation</dc:subject>
  <dc:creator>PptxGenJS</dc:creator>
  <cp:revision>1</cp:revision>
  <dcterms:created xsi:type="dcterms:W3CDTF">2026-03-27T03:13:23Z</dcterms:created>
  <dcterms:modified xsi:type="dcterms:W3CDTF">2026-05-03T17:31:11Z</dcterms:modified>
</cp:coreProperties>
</file>