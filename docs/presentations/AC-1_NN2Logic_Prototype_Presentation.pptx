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0" r:id="rId7"/>
    <p:sldId id="264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710F0F1-F319-EED9-64F6-03A83CD41B86}" v="24" dt="2026-04-12T22:43:39.91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6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7938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FFDE7-1815-F7B4-7A94-2C2089141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0ED1C0-3A27-B8A8-4377-61BE0C1462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5B130A-AF17-FB0B-26B8-94EE31DABC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059374-A735-52B3-2080-E481C2BE92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4377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57200" y="347472"/>
            <a:ext cx="1234440" cy="47548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347472"/>
            <a:ext cx="1234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AC-1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932688"/>
            <a:ext cx="777240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nn2logic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1755648"/>
            <a:ext cx="6858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to Exact Logical Representations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3840480" cy="4114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7993 – Section W01/01  |  Spring 2026  |  April 3, 2026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Presentation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852160" y="2148840"/>
            <a:ext cx="2926080" cy="2331720"/>
          </a:xfrm>
          <a:prstGeom prst="rect">
            <a:avLst/>
          </a:prstGeom>
          <a:solidFill>
            <a:srgbClr val="253480"/>
          </a:solidFill>
          <a:ln w="12700">
            <a:solidFill>
              <a:srgbClr val="3D5AA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943600" y="2212848"/>
            <a:ext cx="2743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0" y="2596896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[Pragya Mishra]</a:t>
            </a:r>
            <a:endParaRPr lang="en-US" sz="13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[Sukumar Muthusamy]</a:t>
            </a:r>
            <a:endParaRPr lang="en-US" sz="1300" dirty="0"/>
          </a:p>
          <a:p>
            <a:pPr marL="0" indent="0" algn="ctr">
              <a:spcAft>
                <a:spcPts val="10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[Deepthi Kondreddy]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828032"/>
            <a:ext cx="9144000" cy="315468"/>
          </a:xfrm>
          <a:prstGeom prst="rect">
            <a:avLst/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4828032"/>
            <a:ext cx="8595360" cy="315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Advisor: Arthur Choi  |  drive.google.com/drive/folders/110oz3oMr1UPpG84RryPk8pt7laQoUWrx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30936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are going to tell you today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1645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60704"/>
            <a:ext cx="804672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neural networks achieve high accuracy but their decision-making is opaque — making it difficult to trust predictions in high-stakes settings. nn2logic converts Binary Neural Networks (BNNs) into Boolean circuits and applies knowledge compilation to produce exact logical representations (OBDDs &amp; SDDs) that enable precise, verifiable reasoning about model decisions and robustness.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78892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2788920"/>
            <a:ext cx="54864" cy="18288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93776" y="2871216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" y="3172968"/>
            <a:ext cx="249631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are black boxes. Small input changes cause unexpected outputs; it's unclear which features drive decisions.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0" y="278892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0" y="2788920"/>
            <a:ext cx="54864" cy="182880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28416" y="2871216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28416" y="3172968"/>
            <a:ext cx="249631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BNN → Boolean Circuit → Knowledge Compilation → OBDD / SDD. Exact reasoning — not approximate — about every decision.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278892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035040" y="2788920"/>
            <a:ext cx="54864" cy="18288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63056" y="2871216"/>
            <a:ext cx="24963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Result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63056" y="3172968"/>
            <a:ext cx="2496312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end-to-end pipeline on XOR experiment: training ✓  weight extraction ✓  NNF/OBDD ✓  SDD ✓  robustness analysis ✓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7993 | Section W01/01 | Spring 2026  |  nn2logic — AC-1  |  Prototype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9CFFD0F-AAE4-9647-DFD3-C93524A5658F}"/>
              </a:ext>
            </a:extLst>
          </p:cNvPr>
          <p:cNvSpPr/>
          <p:nvPr/>
        </p:nvSpPr>
        <p:spPr>
          <a:xfrm>
            <a:off x="0" y="-1"/>
            <a:ext cx="9144000" cy="527551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Architecture:</a:t>
            </a:r>
            <a:b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this work?</a:t>
            </a:r>
            <a:endParaRPr lang="en-US" sz="1000" dirty="0"/>
          </a:p>
          <a:p>
            <a:endParaRPr lang="en-US" dirty="0"/>
          </a:p>
        </p:txBody>
      </p:sp>
      <p:sp>
        <p:nvSpPr>
          <p:cNvPr id="3" name="Shape 17">
            <a:extLst>
              <a:ext uri="{FF2B5EF4-FFF2-40B4-BE49-F238E27FC236}">
                <a16:creationId xmlns:a16="http://schemas.microsoft.com/office/drawing/2014/main" id="{81783818-2DD1-8B86-82EA-FDD896E5AFD1}"/>
              </a:ext>
            </a:extLst>
          </p:cNvPr>
          <p:cNvSpPr/>
          <p:nvPr/>
        </p:nvSpPr>
        <p:spPr>
          <a:xfrm>
            <a:off x="0" y="4881488"/>
            <a:ext cx="9144000" cy="262011"/>
          </a:xfrm>
          <a:prstGeom prst="rect">
            <a:avLst/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13">
            <a:extLst>
              <a:ext uri="{FF2B5EF4-FFF2-40B4-BE49-F238E27FC236}">
                <a16:creationId xmlns:a16="http://schemas.microsoft.com/office/drawing/2014/main" id="{D857D24F-3FB3-6E98-EDBC-36EFF4B5FAA4}"/>
              </a:ext>
            </a:extLst>
          </p:cNvPr>
          <p:cNvSpPr/>
          <p:nvPr/>
        </p:nvSpPr>
        <p:spPr>
          <a:xfrm>
            <a:off x="4977030" y="822288"/>
            <a:ext cx="2697480" cy="57170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050" b="1" dirty="0"/>
              <a:t>Binary Neural Network (BNN)</a:t>
            </a:r>
            <a:br>
              <a:rPr lang="en-US" sz="1050" dirty="0"/>
            </a:br>
            <a:r>
              <a:rPr lang="en-US" sz="900" dirty="0"/>
              <a:t>• 2 inputs, 4 hidden neurons, 1 output</a:t>
            </a:r>
            <a:br>
              <a:rPr lang="en-US" sz="900" dirty="0"/>
            </a:br>
            <a:r>
              <a:rPr lang="en-US" sz="900" dirty="0"/>
              <a:t>• Binary weights &amp; activations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89E48170-C8EE-9D4C-5E86-B8151E894555}"/>
              </a:ext>
            </a:extLst>
          </p:cNvPr>
          <p:cNvSpPr/>
          <p:nvPr/>
        </p:nvSpPr>
        <p:spPr>
          <a:xfrm>
            <a:off x="4981212" y="847334"/>
            <a:ext cx="54864" cy="571705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13">
            <a:extLst>
              <a:ext uri="{FF2B5EF4-FFF2-40B4-BE49-F238E27FC236}">
                <a16:creationId xmlns:a16="http://schemas.microsoft.com/office/drawing/2014/main" id="{38BD74FA-42CC-FEB5-0C65-9E0B0A05E15B}"/>
              </a:ext>
            </a:extLst>
          </p:cNvPr>
          <p:cNvSpPr/>
          <p:nvPr/>
        </p:nvSpPr>
        <p:spPr>
          <a:xfrm>
            <a:off x="4977030" y="1728197"/>
            <a:ext cx="2701662" cy="571705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050" b="1" dirty="0"/>
              <a:t>Weight Extraction</a:t>
            </a:r>
            <a:br>
              <a:rPr lang="en-US" sz="1050" dirty="0"/>
            </a:br>
            <a:r>
              <a:rPr lang="en-US" sz="900" dirty="0"/>
              <a:t>• Layer-wise extraction</a:t>
            </a:r>
            <a:br>
              <a:rPr lang="en-US" sz="900" dirty="0"/>
            </a:br>
            <a:r>
              <a:rPr lang="en-US" sz="900" dirty="0"/>
              <a:t>• Verified vs TensorFlow forward pass</a:t>
            </a:r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67E600AA-5A8C-FD93-A15E-5E5496F827B5}"/>
              </a:ext>
            </a:extLst>
          </p:cNvPr>
          <p:cNvSpPr/>
          <p:nvPr/>
        </p:nvSpPr>
        <p:spPr>
          <a:xfrm>
            <a:off x="4982484" y="1732929"/>
            <a:ext cx="54864" cy="565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3">
            <a:extLst>
              <a:ext uri="{FF2B5EF4-FFF2-40B4-BE49-F238E27FC236}">
                <a16:creationId xmlns:a16="http://schemas.microsoft.com/office/drawing/2014/main" id="{955274A3-E346-6F35-7B78-2ABB990C09E6}"/>
              </a:ext>
            </a:extLst>
          </p:cNvPr>
          <p:cNvSpPr/>
          <p:nvPr/>
        </p:nvSpPr>
        <p:spPr>
          <a:xfrm>
            <a:off x="4981212" y="2571750"/>
            <a:ext cx="2697480" cy="57602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050" b="1" dirty="0"/>
              <a:t>Boolean Circuit (AC)</a:t>
            </a:r>
            <a:br>
              <a:rPr lang="en-US" sz="1050" dirty="0"/>
            </a:br>
            <a:r>
              <a:rPr lang="en-US" sz="900" dirty="0"/>
              <a:t>• </a:t>
            </a:r>
            <a:r>
              <a:rPr lang="fr-FR" sz="900" dirty="0"/>
              <a:t>5 circuits Constructed</a:t>
            </a:r>
            <a:br>
              <a:rPr lang="fr-FR" sz="900" dirty="0"/>
            </a:br>
            <a:r>
              <a:rPr lang="fr-FR" sz="900" dirty="0"/>
              <a:t>• 9–15 Nodes per neuron</a:t>
            </a:r>
            <a:endParaRPr lang="en-US" sz="900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6977A88-E6D0-A68B-DE44-DAD129D058FA}"/>
              </a:ext>
            </a:extLst>
          </p:cNvPr>
          <p:cNvSpPr/>
          <p:nvPr/>
        </p:nvSpPr>
        <p:spPr>
          <a:xfrm>
            <a:off x="4981212" y="3500548"/>
            <a:ext cx="2697480" cy="576021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r>
              <a:rPr lang="en-US" sz="1050" b="1" dirty="0"/>
              <a:t>OBDD / SDD Representation</a:t>
            </a:r>
            <a:br>
              <a:rPr lang="en-US" sz="1050" dirty="0"/>
            </a:br>
            <a:r>
              <a:rPr lang="en-US" sz="900" dirty="0"/>
              <a:t>• </a:t>
            </a:r>
            <a:r>
              <a:rPr lang="it-IT" sz="900" dirty="0"/>
              <a:t>Canonical logical representation</a:t>
            </a:r>
            <a:br>
              <a:rPr lang="it-IT" sz="900" dirty="0"/>
            </a:br>
            <a:r>
              <a:rPr lang="it-IT" sz="900" dirty="0"/>
              <a:t>• 69-node NNF → 1-node SDD</a:t>
            </a:r>
            <a:endParaRPr lang="en-US" sz="900" dirty="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313519FA-D30F-829C-DA14-4A101CEFCEA9}"/>
              </a:ext>
            </a:extLst>
          </p:cNvPr>
          <p:cNvSpPr/>
          <p:nvPr/>
        </p:nvSpPr>
        <p:spPr>
          <a:xfrm>
            <a:off x="4982484" y="2577189"/>
            <a:ext cx="45719" cy="571705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9C96EDA4-8F57-673C-917F-38099872E0F8}"/>
              </a:ext>
            </a:extLst>
          </p:cNvPr>
          <p:cNvSpPr/>
          <p:nvPr/>
        </p:nvSpPr>
        <p:spPr>
          <a:xfrm>
            <a:off x="4982484" y="3500547"/>
            <a:ext cx="45719" cy="576021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Picture 4" descr="A diagram of a computer network&#10;&#10;AI-generated content may be incorrect.">
            <a:extLst>
              <a:ext uri="{FF2B5EF4-FFF2-40B4-BE49-F238E27FC236}">
                <a16:creationId xmlns:a16="http://schemas.microsoft.com/office/drawing/2014/main" id="{234D4BDC-537F-9235-D310-D61B7393F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236" y="605117"/>
            <a:ext cx="3615440" cy="420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242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Process &amp; SDLC Activities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30936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 and work completed so far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47472" y="1024128"/>
            <a:ext cx="143560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47472" y="1060704"/>
            <a:ext cx="1435608" cy="510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(RAD)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7472" y="1542593"/>
            <a:ext cx="1435608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30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83080" y="1403604"/>
            <a:ext cx="347472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130552" y="1024128"/>
            <a:ext cx="143560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130552" y="1060704"/>
            <a:ext cx="1435608" cy="510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130552" y="1542593"/>
            <a:ext cx="1435608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Feb-10-Apr2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566160" y="1403604"/>
            <a:ext cx="347472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13632" y="1024128"/>
            <a:ext cx="1435608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913632" y="1060704"/>
            <a:ext cx="1435608" cy="510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913632" y="1542593"/>
            <a:ext cx="1435608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349240" y="1403604"/>
            <a:ext cx="347472" cy="64008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696712" y="1024128"/>
            <a:ext cx="1435608" cy="822960"/>
          </a:xfrm>
          <a:prstGeom prst="rect">
            <a:avLst/>
          </a:prstGeom>
          <a:solidFill>
            <a:srgbClr val="002060"/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96712" y="1060704"/>
            <a:ext cx="1435608" cy="510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96712" y="1542593"/>
            <a:ext cx="1435608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9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32320" y="1403604"/>
            <a:ext cx="347472" cy="64008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79792" y="1024128"/>
            <a:ext cx="1435608" cy="82296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79792" y="1060704"/>
            <a:ext cx="1435608" cy="51023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479792" y="1542593"/>
            <a:ext cx="1435608" cy="2880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65760" y="2011680"/>
            <a:ext cx="41148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2340864"/>
            <a:ext cx="416052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Analysis &amp; Project Plan (RAD) — Jan 30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review: BNN-to-Boolean circuit methods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experiment: network trained, converged at epoch 189, accuracy 100%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extraction pipeline implemented &amp; verified vs. TF forward pass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construction (5 neurons, 9–15 nodes each) — all verified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NNF / OBDD compilation — all 5 neurons correct on full input space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36592" y="1993392"/>
            <a:ext cx="41148" cy="263347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2011680"/>
            <a:ext cx="3886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/ Next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92040" y="2340864"/>
            <a:ext cx="3886200" cy="22402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compilation — XOR experiment complete ✓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analysis (Algorithm 1 / SSDC20) — complete ✓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milestone — complete ✓</a:t>
            </a:r>
          </a:p>
          <a:p>
            <a:pPr marL="342900" indent="-342900">
              <a:spcAft>
                <a:spcPts val="200"/>
              </a:spcAft>
              <a:buSzPct val="100000"/>
              <a:buFontTx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/>
                <a:ea typeface="Calibri"/>
                <a:cs typeface="Calibri"/>
              </a:rPr>
              <a:t>Scale pipeline to deeper / wider networks – Apr 20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Report Package + IEEE paper draft — Apr 23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7993 | Section W01/01 | Spring 2026  |  nn2logic — AC-1  |  Prototype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Pipeline — End-to-End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30936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BNN → Boolean Circuit → OBDD / SDD → Robustness Analysis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901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20040" y="1024128"/>
            <a:ext cx="1901952" cy="32918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024128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BNN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1810512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20" dirty="0">
                <a:solidFill>
                  <a:srgbClr val="94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task. 2 inputs, 4 hidden neurons, 1 output. 17 params. Converged epoch 189. Accuracy: 100%.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2221992" y="1673352"/>
            <a:ext cx="201168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423160" y="1024128"/>
            <a:ext cx="1901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23160" y="1024128"/>
            <a:ext cx="1901952" cy="32918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423160" y="1024128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23160" y="137160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Extraction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96312" y="1810512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20" dirty="0">
                <a:solidFill>
                  <a:srgbClr val="94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&amp; biases extracted layer-by-layer. Binarized TF vs AC pipeline: ALL LAYERS TRACEABLE.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325112" y="1673352"/>
            <a:ext cx="201168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26280" y="1024128"/>
            <a:ext cx="1901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26280" y="1024128"/>
            <a:ext cx="1901952" cy="32918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26280" y="1024128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26280" y="137160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→ NNF / OBDD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99432" y="1810512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20" dirty="0">
                <a:solidFill>
                  <a:srgbClr val="94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ACs built (9–15 nodes). Compiled to NNF. 4 neurons: 4 nodes. Output neuron: 61 nodes. All verified.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6428232" y="1673352"/>
            <a:ext cx="201168" cy="7315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629400" y="1024128"/>
            <a:ext cx="1901952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29400" y="1024128"/>
            <a:ext cx="1901952" cy="329184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29400" y="1024128"/>
            <a:ext cx="19019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629400" y="1371600"/>
            <a:ext cx="190195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+ Robustness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02552" y="1810512"/>
            <a:ext cx="175564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20" dirty="0">
                <a:solidFill>
                  <a:srgbClr val="94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NNF: 69 nodes. SDD: 1 node. Model count 2/4. Robustness mr(f) = 0.50. Prime implicants found.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320040" y="2560320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20040" y="2560320"/>
            <a:ext cx="54864" cy="1993392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48056" y="264261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Representations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8056" y="2944368"/>
            <a:ext cx="3959352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OBDD (Ordered Binary Decision Diagram)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Canonical Boolean function form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Polynomial-time decision queries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4 hidden neurons: 4 NNF nodes each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Output neuron: 61 NNF nodes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(Sentential Decision Diagram)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Precise than OBDDs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Broader tractable operations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• Compiled to 1 SDD node for XOR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2560320"/>
            <a:ext cx="4160520" cy="19933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663440" y="2560320"/>
            <a:ext cx="54864" cy="1993392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91456" y="2642616"/>
            <a:ext cx="3959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Verification Results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91456" y="2944368"/>
            <a:ext cx="3959352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Binarized TF vs AC hidden layer:   MATCH all 4 inputs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Binarized TF vs AC output layer:    MATCH all 4 inputs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Composed NNF vs binarized TF:    MATCH all 4 inputs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SDD vs binarized TF:                         MATCH all 4 inputs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count:  2 / 4 inputs satisfy the network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robustness:  1 bit flip needed to change any classification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implicants:  { x1=0, x2=1 }  and  { x1=1, x2=0 }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7993 | Section W01/01 | Spring 2026  |  nn2logic — AC-1  |  Prototype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Results — XOR Experiment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630936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output from the nn2logic pipeline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1572768" cy="8778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42416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20040" y="15270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093976" y="1024128"/>
            <a:ext cx="1572768" cy="8778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093976" y="1042416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 189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093976" y="15270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867912" y="1024128"/>
            <a:ext cx="1572768" cy="8778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867912" y="1042416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867912" y="15270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Neurons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(NNF)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641848" y="1024128"/>
            <a:ext cx="1572768" cy="8778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41848" y="1042416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41848" y="15270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SDD Inputs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415784" y="1024128"/>
            <a:ext cx="1572768" cy="8778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415784" y="1042416"/>
            <a:ext cx="1572768" cy="47548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415784" y="152704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2057400"/>
            <a:ext cx="2194560" cy="2633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2057400"/>
            <a:ext cx="2194560" cy="310896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11480" y="20574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XOR Truth Table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2404872"/>
            <a:ext cx="201168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    Pred   Match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0]  →   0     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[0, 1]  →   1     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0]  →   1     ✓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1]  →   0     ✓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97480" y="2057400"/>
            <a:ext cx="2331720" cy="2633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697480" y="2057400"/>
            <a:ext cx="2331720" cy="310896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88920" y="205740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NNF Node Counts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88920" y="2404872"/>
            <a:ext cx="214884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neuron 1:   10 nodes  (3/4 sat)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neuron 2:    4 nodes  (1/4 sat)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neuron 3:    4 nodes  (1/4 sat)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neuron 4:   10 nodes  (3/4 sat)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neuron 1:   61 nodes  (12/16 sat)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Composed NNF:      69 nodes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212080" y="2057400"/>
            <a:ext cx="3611880" cy="2633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212080" y="2057400"/>
            <a:ext cx="3611880" cy="31089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03520" y="2057400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Analysis (Algorithm 1 / SSDC20)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303520" y="2404872"/>
            <a:ext cx="342900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 x1, x2   |   n=2, total inputs=4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inputs (model count):  2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inputs sensitive to both x1 and x2: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[0,0] out=0  sensitive: x1, x2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[0,1] out=1  sensitive: x1, x2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[1,0] out=1  sensitive: x1, x2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[1,1] out=0  sensitive: x1, x2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robustness mr(f) = 0.5000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robustness = 1  (1 bit flip to flip class)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 implicants: {x1=0,x2=1}  {x1=1,x2=0}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7993 | Section W01/01 | Spring 2026  |  nn2logic — AC-1  |  Prototype Presentation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08D1C5-FB00-D34F-E9F0-80BAE90B0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5CAE82C-CF7C-CF54-4D02-19E23755B26E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0E56765-4D4E-8517-FE07-5706AC3442A2}"/>
              </a:ext>
            </a:extLst>
          </p:cNvPr>
          <p:cNvSpPr/>
          <p:nvPr/>
        </p:nvSpPr>
        <p:spPr>
          <a:xfrm>
            <a:off x="365760" y="54864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: Traditional NN vs nn2Logic</a:t>
            </a:r>
            <a:endParaRPr lang="en-US" sz="2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C406893-1145-9737-10A7-14532A685975}"/>
              </a:ext>
            </a:extLst>
          </p:cNvPr>
          <p:cNvSpPr/>
          <p:nvPr/>
        </p:nvSpPr>
        <p:spPr>
          <a:xfrm>
            <a:off x="365760" y="630936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nn2Logic differ from traditional neural network?</a:t>
            </a:r>
            <a:endParaRPr lang="en-US" sz="11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41E72E8-4972-29BA-E5D3-0800F69CABE5}"/>
              </a:ext>
            </a:extLst>
          </p:cNvPr>
          <p:cNvSpPr/>
          <p:nvPr/>
        </p:nvSpPr>
        <p:spPr>
          <a:xfrm>
            <a:off x="411480" y="2057400"/>
            <a:ext cx="2011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F7F803E-793B-9DE8-BE33-1C45F56A0FE1}"/>
              </a:ext>
            </a:extLst>
          </p:cNvPr>
          <p:cNvSpPr/>
          <p:nvPr/>
        </p:nvSpPr>
        <p:spPr>
          <a:xfrm>
            <a:off x="411480" y="2404872"/>
            <a:ext cx="2011680" cy="22128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A04B964-46D1-5442-11CD-E7515C4B9730}"/>
              </a:ext>
            </a:extLst>
          </p:cNvPr>
          <p:cNvSpPr/>
          <p:nvPr/>
        </p:nvSpPr>
        <p:spPr>
          <a:xfrm>
            <a:off x="2788920" y="2057400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06A92979-B8DA-FB7C-D0F8-390B331B92A8}"/>
              </a:ext>
            </a:extLst>
          </p:cNvPr>
          <p:cNvSpPr/>
          <p:nvPr/>
        </p:nvSpPr>
        <p:spPr>
          <a:xfrm>
            <a:off x="5303520" y="2057400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A021A4CE-91C3-2E94-B0C1-B134F3B48631}"/>
              </a:ext>
            </a:extLst>
          </p:cNvPr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1BF5BAAD-CDF1-B314-BB54-B21FC48E2788}"/>
              </a:ext>
            </a:extLst>
          </p:cNvPr>
          <p:cNvSpPr/>
          <p:nvPr/>
        </p:nvSpPr>
        <p:spPr>
          <a:xfrm>
            <a:off x="274320" y="4800600"/>
            <a:ext cx="859536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7993 | Section W01/01 | Spring 2026  |  nn2logic — AC-1  |  Prototype Presentation</a:t>
            </a:r>
            <a:endParaRPr lang="en-US" sz="900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C053D1BF-D3B2-DAF2-5BA0-5AC1E9AB7E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4097282"/>
              </p:ext>
            </p:extLst>
          </p:nvPr>
        </p:nvGraphicFramePr>
        <p:xfrm>
          <a:off x="411480" y="1160585"/>
          <a:ext cx="8134643" cy="3031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3160">
                  <a:extLst>
                    <a:ext uri="{9D8B030D-6E8A-4147-A177-3AD203B41FA5}">
                      <a16:colId xmlns:a16="http://schemas.microsoft.com/office/drawing/2014/main" val="3907059"/>
                    </a:ext>
                  </a:extLst>
                </a:gridCol>
                <a:gridCol w="2999935">
                  <a:extLst>
                    <a:ext uri="{9D8B030D-6E8A-4147-A177-3AD203B41FA5}">
                      <a16:colId xmlns:a16="http://schemas.microsoft.com/office/drawing/2014/main" val="924918350"/>
                    </a:ext>
                  </a:extLst>
                </a:gridCol>
                <a:gridCol w="2711548">
                  <a:extLst>
                    <a:ext uri="{9D8B030D-6E8A-4147-A177-3AD203B41FA5}">
                      <a16:colId xmlns:a16="http://schemas.microsoft.com/office/drawing/2014/main" val="2552117291"/>
                    </a:ext>
                  </a:extLst>
                </a:gridCol>
              </a:tblGrid>
              <a:tr h="4337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latin typeface="+mn-lt"/>
                        </a:rPr>
                        <a:t>Aspect</a:t>
                      </a:r>
                      <a:endParaRPr lang="en-IN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+mn-lt"/>
                        </a:rPr>
                        <a:t>Traditional Neural Networks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dirty="0">
                          <a:latin typeface="+mn-lt"/>
                        </a:rPr>
                        <a:t>nn2logic Approach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037809"/>
                  </a:ext>
                </a:extLst>
              </a:tr>
              <a:tr h="4337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latin typeface="+mn-lt"/>
                        </a:rPr>
                        <a:t>Interpretability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latin typeface="+mn-lt"/>
                        </a:rPr>
                        <a:t>Black-box model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latin typeface="+mn-lt"/>
                        </a:rPr>
                        <a:t>Fully transparent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5160149"/>
                  </a:ext>
                </a:extLst>
              </a:tr>
              <a:tr h="43370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200" dirty="0">
                          <a:latin typeface="+mn-lt"/>
                        </a:rPr>
                        <a:t>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+mn-lt"/>
                        </a:rPr>
                        <a:t>Approximate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+mn-lt"/>
                        </a:rPr>
                        <a:t>Exact logical reasoning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4996547"/>
                  </a:ext>
                </a:extLst>
              </a:tr>
              <a:tr h="394045"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+mn-lt"/>
                        </a:rPr>
                        <a:t>Verification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+mn-lt"/>
                        </a:rPr>
                        <a:t>Difficult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+mn-lt"/>
                        </a:rPr>
                        <a:t>Formally verifiable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1488352"/>
                  </a:ext>
                </a:extLst>
              </a:tr>
              <a:tr h="433704"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+mn-lt"/>
                        </a:rPr>
                        <a:t>Robustness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+mn-lt"/>
                        </a:rPr>
                        <a:t>Limited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+mn-lt"/>
                        </a:rPr>
                        <a:t>Precise and measurable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7378699"/>
                  </a:ext>
                </a:extLst>
              </a:tr>
              <a:tr h="469172"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+mn-lt"/>
                        </a:rPr>
                        <a:t>Output Representation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+mn-lt"/>
                        </a:rPr>
                        <a:t>Numeric predictions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+mn-lt"/>
                        </a:rPr>
                        <a:t>Logical structures (OBDD, SDD)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0709541"/>
                  </a:ext>
                </a:extLst>
              </a:tr>
              <a:tr h="433704"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+mn-lt"/>
                        </a:rPr>
                        <a:t>Trustworthiness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+mn-lt"/>
                        </a:rPr>
                        <a:t>Low in critical systems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200" dirty="0">
                          <a:latin typeface="+mn-lt"/>
                        </a:rPr>
                        <a:t>High due to guarantees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56950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9006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told you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402336" cy="402336"/>
          </a:xfrm>
          <a:prstGeom prst="rect">
            <a:avLst/>
          </a:prstGeom>
          <a:solidFill>
            <a:srgbClr val="1A4D2A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17043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32688" y="118872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nn2logic converts BNNs into exact logical representations (OBDDs &amp; SDDs) enabling precise, verifiable AI reasoning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402336" cy="402336"/>
          </a:xfrm>
          <a:prstGeom prst="rect">
            <a:avLst/>
          </a:prstGeom>
          <a:solidFill>
            <a:srgbClr val="1A4D2A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18288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184708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XOR experiment pipeline complete: training → weight extraction → AC/NNF/OBDD → SDD — all layers verified correct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5760" y="2487168"/>
            <a:ext cx="402336" cy="402336"/>
          </a:xfrm>
          <a:prstGeom prst="rect">
            <a:avLst/>
          </a:prstGeom>
          <a:solidFill>
            <a:srgbClr val="1A4D2A"/>
          </a:solidFill>
          <a:ln w="12700">
            <a:solidFill>
              <a:srgbClr val="28A7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65760" y="24871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8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2505456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analysis (Algorithm 1 / SSDC20): mr(f) = 0.50, max robustness = 1, prime implicants { x1=0,x2=1 } { x1=1,x2=0 }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3145536"/>
            <a:ext cx="402336" cy="402336"/>
          </a:xfrm>
          <a:prstGeom prst="rect">
            <a:avLst/>
          </a:prstGeom>
          <a:solidFill>
            <a:srgbClr val="253480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314553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3163824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Scale to deeper/wider networks, finalize Testing milestone — Apr 20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65760" y="3803904"/>
            <a:ext cx="402336" cy="402336"/>
          </a:xfrm>
          <a:prstGeom prst="rect">
            <a:avLst/>
          </a:prstGeom>
          <a:solidFill>
            <a:srgbClr val="253480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65760" y="380390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32688" y="382219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Final Report Package — Apr 23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A4A"/>
          </a:solidFill>
          <a:ln w="12700">
            <a:solidFill>
              <a:srgbClr val="0D1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4617720"/>
            <a:ext cx="8595360" cy="5257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Questions?  |  AI 7993 Section W01/01 – Spring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</TotalTime>
  <Words>1200</Words>
  <Application>Microsoft Office PowerPoint</Application>
  <PresentationFormat>On-screen Show (16:9)</PresentationFormat>
  <Paragraphs>178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AC-1 nn2logic Prototype Presentation</dc:title>
  <dc:subject>PptxGenJS Presentation</dc:subject>
  <dc:creator>PptxGenJS</dc:creator>
  <cp:lastModifiedBy>Deepthi kondreddy</cp:lastModifiedBy>
  <cp:revision>37</cp:revision>
  <dcterms:created xsi:type="dcterms:W3CDTF">2026-03-27T03:13:23Z</dcterms:created>
  <dcterms:modified xsi:type="dcterms:W3CDTF">2026-04-14T14:34:56Z</dcterms:modified>
</cp:coreProperties>
</file>